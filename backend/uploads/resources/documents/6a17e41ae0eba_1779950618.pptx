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320" r:id="rId4"/>
    <p:sldId id="324" r:id="rId5"/>
    <p:sldId id="325" r:id="rId6"/>
    <p:sldId id="326" r:id="rId7"/>
    <p:sldId id="334" r:id="rId8"/>
    <p:sldId id="328" r:id="rId9"/>
    <p:sldId id="329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8" r:id="rId19"/>
    <p:sldId id="343" r:id="rId20"/>
    <p:sldId id="344" r:id="rId21"/>
    <p:sldId id="349" r:id="rId22"/>
    <p:sldId id="350" r:id="rId23"/>
    <p:sldId id="351" r:id="rId24"/>
    <p:sldId id="352" r:id="rId25"/>
    <p:sldId id="353" r:id="rId26"/>
    <p:sldId id="354" r:id="rId27"/>
    <p:sldId id="361" r:id="rId28"/>
    <p:sldId id="406" r:id="rId29"/>
    <p:sldId id="403" r:id="rId30"/>
    <p:sldId id="369" r:id="rId31"/>
    <p:sldId id="372" r:id="rId32"/>
    <p:sldId id="404" r:id="rId33"/>
    <p:sldId id="405" r:id="rId34"/>
    <p:sldId id="373" r:id="rId35"/>
    <p:sldId id="385" r:id="rId36"/>
    <p:sldId id="386" r:id="rId37"/>
    <p:sldId id="387" r:id="rId38"/>
    <p:sldId id="407" r:id="rId39"/>
    <p:sldId id="408" r:id="rId40"/>
    <p:sldId id="297" r:id="rId41"/>
    <p:sldId id="410" r:id="rId42"/>
    <p:sldId id="409" r:id="rId43"/>
    <p:sldId id="316" r:id="rId44"/>
    <p:sldId id="317" r:id="rId45"/>
    <p:sldId id="413" r:id="rId46"/>
    <p:sldId id="319" r:id="rId47"/>
    <p:sldId id="415" r:id="rId48"/>
    <p:sldId id="414" r:id="rId49"/>
    <p:sldId id="321" r:id="rId50"/>
    <p:sldId id="322" r:id="rId51"/>
    <p:sldId id="323" r:id="rId52"/>
    <p:sldId id="425" r:id="rId53"/>
    <p:sldId id="426" r:id="rId54"/>
    <p:sldId id="330" r:id="rId55"/>
    <p:sldId id="331" r:id="rId56"/>
    <p:sldId id="332" r:id="rId57"/>
    <p:sldId id="333" r:id="rId58"/>
    <p:sldId id="427" r:id="rId59"/>
    <p:sldId id="428" r:id="rId60"/>
    <p:sldId id="429" r:id="rId61"/>
    <p:sldId id="431" r:id="rId62"/>
    <p:sldId id="416" r:id="rId63"/>
    <p:sldId id="359" r:id="rId64"/>
    <p:sldId id="360" r:id="rId65"/>
    <p:sldId id="362" r:id="rId66"/>
    <p:sldId id="418" r:id="rId67"/>
    <p:sldId id="419" r:id="rId68"/>
    <p:sldId id="395" r:id="rId69"/>
    <p:sldId id="396" r:id="rId70"/>
    <p:sldId id="397" r:id="rId71"/>
    <p:sldId id="420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መካከለኛ ቅጥ 2 - ጥለት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መካከለኛ ቅጥ 3 - ጥለት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ቅጥ የለም፣ ፍርግርግ የለም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70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theme" Target="theme/theme1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tableStyles" Target="tableStyles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ግርጌ አረፍ ቦታ ያዥ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የቀን ቦታ ያዥ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31B26-00D9-4900-855F-90408B21166C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የነጠላ ምስል ቦታ ያዥ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የማስታወሻዎች ቦታ ያዥ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6" name="ግርጌ አደር ቦታ ያዥ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የእስላይድ ቁጥር ቦታ ያዥ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F4F84-F9B7-4269-BFA6-FCCA19A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2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02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97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32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Engine: V8 – Chrome</a:t>
            </a:r>
            <a:br>
              <a:rPr lang="en-US" dirty="0"/>
            </a:br>
            <a:r>
              <a:rPr lang="en-US" dirty="0"/>
              <a:t>          </a:t>
            </a:r>
            <a:r>
              <a:rPr lang="en-US" dirty="0" err="1"/>
              <a:t>SpiderMonkey</a:t>
            </a:r>
            <a:r>
              <a:rPr lang="en-US" dirty="0"/>
              <a:t> – Firefox</a:t>
            </a:r>
          </a:p>
          <a:p>
            <a:r>
              <a:rPr lang="en-US" dirty="0"/>
              <a:t>          Chakra – Edge</a:t>
            </a:r>
          </a:p>
          <a:p>
            <a:r>
              <a:rPr lang="en-US" dirty="0"/>
              <a:t>ECMA – European Computer Manufacturer’s Association</a:t>
            </a:r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88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34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28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05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71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49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28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76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80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33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60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53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77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18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93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397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24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892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045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68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54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741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954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979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158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449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912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607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09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408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GB">
              <a:latin typeface="Times New Roman" pitchFamily="-112" charset="0"/>
              <a:ea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77519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GB">
              <a:latin typeface="Times New Roman" pitchFamily="-112" charset="0"/>
              <a:ea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17646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663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589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ነጠላ ምስል ቦታ ያዥ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የማስታወሻዎች ቦታ ያዥ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የእስላይድ ቁጥር ቦታ ያዥ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F4F84-F9B7-4269-BFA6-FCCA19AF9F7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2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የርዕስ ስላይ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E07D206-A65A-4D80-8EAE-98FF3A567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ንኡስ ርእስ 2">
            <a:extLst>
              <a:ext uri="{FF2B5EF4-FFF2-40B4-BE49-F238E27FC236}">
                <a16:creationId xmlns:a16="http://schemas.microsoft.com/office/drawing/2014/main" id="{9DA0AB90-AA6E-4D03-AF5C-33BCBC01A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m-ET"/>
              <a:t>የዋና ግርጌ ጽሁፍ ቅጥ አርትዕ ለማድረግ ጠቅ ያድርጉ</a:t>
            </a:r>
            <a:endParaRPr lang="en-US"/>
          </a:p>
        </p:txBody>
      </p:sp>
      <p:sp>
        <p:nvSpPr>
          <p:cNvPr id="4" name="የቀን ቦታ ያዥ 3">
            <a:extLst>
              <a:ext uri="{FF2B5EF4-FFF2-40B4-BE49-F238E27FC236}">
                <a16:creationId xmlns:a16="http://schemas.microsoft.com/office/drawing/2014/main" id="{4CB7F7B4-D3A2-480A-887B-2B8D317E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ግርጌ አደር ቦታ ያዥ 4">
            <a:extLst>
              <a:ext uri="{FF2B5EF4-FFF2-40B4-BE49-F238E27FC236}">
                <a16:creationId xmlns:a16="http://schemas.microsoft.com/office/drawing/2014/main" id="{B6E88CBE-7F03-4C61-9EE2-BFC33611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የእስላይድ ቁጥር ቦታ ያዥ 5">
            <a:extLst>
              <a:ext uri="{FF2B5EF4-FFF2-40B4-BE49-F238E27FC236}">
                <a16:creationId xmlns:a16="http://schemas.microsoft.com/office/drawing/2014/main" id="{8C8C3FA5-8315-43F0-BC9B-03C2096B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ርዕስ እና ይዘ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F1DA21FC-E417-45E5-B773-55FEE2692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B0473425-06B5-4BB7-B0AA-34032DD2F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4" name="የቀን ቦታ ያዥ 3">
            <a:extLst>
              <a:ext uri="{FF2B5EF4-FFF2-40B4-BE49-F238E27FC236}">
                <a16:creationId xmlns:a16="http://schemas.microsoft.com/office/drawing/2014/main" id="{3900B190-4245-4709-9626-152A856D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ግርጌ አደር ቦታ ያዥ 4">
            <a:extLst>
              <a:ext uri="{FF2B5EF4-FFF2-40B4-BE49-F238E27FC236}">
                <a16:creationId xmlns:a16="http://schemas.microsoft.com/office/drawing/2014/main" id="{DCCA7BEA-E155-4F23-A7D6-F5124FA4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የእስላይድ ቁጥር ቦታ ያዥ 5">
            <a:extLst>
              <a:ext uri="{FF2B5EF4-FFF2-40B4-BE49-F238E27FC236}">
                <a16:creationId xmlns:a16="http://schemas.microsoft.com/office/drawing/2014/main" id="{D6C17024-1AF6-42FC-AB01-21347688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1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ክፍል አርእስ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0FE0C59F-E538-4412-9BE2-C2A13BF33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ፅሁፍ ቦታ ያዥ 2">
            <a:extLst>
              <a:ext uri="{FF2B5EF4-FFF2-40B4-BE49-F238E27FC236}">
                <a16:creationId xmlns:a16="http://schemas.microsoft.com/office/drawing/2014/main" id="{42D2EF0F-135E-4995-807A-F4E977A67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m-ET"/>
              <a:t>የዋና ፅሁፍ ቅጦችን አርትዕ ለማድረግ ጠቅ ያድርጉ</a:t>
            </a:r>
          </a:p>
        </p:txBody>
      </p:sp>
      <p:sp>
        <p:nvSpPr>
          <p:cNvPr id="4" name="የቀን ቦታ ያዥ 3">
            <a:extLst>
              <a:ext uri="{FF2B5EF4-FFF2-40B4-BE49-F238E27FC236}">
                <a16:creationId xmlns:a16="http://schemas.microsoft.com/office/drawing/2014/main" id="{F421EB50-A28B-4577-A8EB-065323AFC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ግርጌ አደር ቦታ ያዥ 4">
            <a:extLst>
              <a:ext uri="{FF2B5EF4-FFF2-40B4-BE49-F238E27FC236}">
                <a16:creationId xmlns:a16="http://schemas.microsoft.com/office/drawing/2014/main" id="{F3AE01FE-A255-4907-AADE-FBFEBC25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የእስላይድ ቁጥር ቦታ ያዥ 5">
            <a:extLst>
              <a:ext uri="{FF2B5EF4-FFF2-40B4-BE49-F238E27FC236}">
                <a16:creationId xmlns:a16="http://schemas.microsoft.com/office/drawing/2014/main" id="{5301BCD2-B7E4-429D-B727-3A19A68F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9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ሁለት ይዘ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AE6CF32E-66C9-4A70-896D-6D6B855D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5CDE869E-7BBC-4D8F-AAA8-6FF411D4F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4" name="ይዘት ቦታ ያዥ 3">
            <a:extLst>
              <a:ext uri="{FF2B5EF4-FFF2-40B4-BE49-F238E27FC236}">
                <a16:creationId xmlns:a16="http://schemas.microsoft.com/office/drawing/2014/main" id="{36F75F22-34F0-43E3-9545-86DCEF3BC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5" name="የቀን ቦታ ያዥ 4">
            <a:extLst>
              <a:ext uri="{FF2B5EF4-FFF2-40B4-BE49-F238E27FC236}">
                <a16:creationId xmlns:a16="http://schemas.microsoft.com/office/drawing/2014/main" id="{C36872AD-CC74-4D75-B56C-BEFAB72B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ግርጌ አደር ቦታ ያዥ 5">
            <a:extLst>
              <a:ext uri="{FF2B5EF4-FFF2-40B4-BE49-F238E27FC236}">
                <a16:creationId xmlns:a16="http://schemas.microsoft.com/office/drawing/2014/main" id="{17BA5081-7044-4005-B9B5-1C5636CB7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የእስላይድ ቁጥር ቦታ ያዥ 6">
            <a:extLst>
              <a:ext uri="{FF2B5EF4-FFF2-40B4-BE49-F238E27FC236}">
                <a16:creationId xmlns:a16="http://schemas.microsoft.com/office/drawing/2014/main" id="{346B3EDB-2676-4FE5-9B02-427150E92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ማወዳደ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741C096E-7BC5-4A88-9F97-DD0AD431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ፅሁፍ ቦታ ያዥ 2">
            <a:extLst>
              <a:ext uri="{FF2B5EF4-FFF2-40B4-BE49-F238E27FC236}">
                <a16:creationId xmlns:a16="http://schemas.microsoft.com/office/drawing/2014/main" id="{3C171EB7-061D-450A-8CCD-E60ABA0F1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m-ET"/>
              <a:t>የዋና ፅሁፍ ቅጦችን አርትዕ ለማድረግ ጠቅ ያድርጉ</a:t>
            </a:r>
          </a:p>
        </p:txBody>
      </p:sp>
      <p:sp>
        <p:nvSpPr>
          <p:cNvPr id="4" name="ይዘት ቦታ ያዥ 3">
            <a:extLst>
              <a:ext uri="{FF2B5EF4-FFF2-40B4-BE49-F238E27FC236}">
                <a16:creationId xmlns:a16="http://schemas.microsoft.com/office/drawing/2014/main" id="{F9A3080D-E6B1-438E-94E0-5CE2506FE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5" name="ፅሁፍ ቦታ ያዥ 4">
            <a:extLst>
              <a:ext uri="{FF2B5EF4-FFF2-40B4-BE49-F238E27FC236}">
                <a16:creationId xmlns:a16="http://schemas.microsoft.com/office/drawing/2014/main" id="{BD280FA9-0DE8-464B-BB81-4DBEA1550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m-ET"/>
              <a:t>የዋና ፅሁፍ ቅጦችን አርትዕ ለማድረግ ጠቅ ያድርጉ</a:t>
            </a:r>
          </a:p>
        </p:txBody>
      </p:sp>
      <p:sp>
        <p:nvSpPr>
          <p:cNvPr id="6" name="ይዘት ቦታ ያዥ 5">
            <a:extLst>
              <a:ext uri="{FF2B5EF4-FFF2-40B4-BE49-F238E27FC236}">
                <a16:creationId xmlns:a16="http://schemas.microsoft.com/office/drawing/2014/main" id="{8627F36A-DFFE-45C3-8F94-BC638A4D0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7" name="የቀን ቦታ ያዥ 6">
            <a:extLst>
              <a:ext uri="{FF2B5EF4-FFF2-40B4-BE49-F238E27FC236}">
                <a16:creationId xmlns:a16="http://schemas.microsoft.com/office/drawing/2014/main" id="{9F9317C1-C708-4BFA-9D1A-47EE64E5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ግርጌ አደር ቦታ ያዥ 7">
            <a:extLst>
              <a:ext uri="{FF2B5EF4-FFF2-40B4-BE49-F238E27FC236}">
                <a16:creationId xmlns:a16="http://schemas.microsoft.com/office/drawing/2014/main" id="{25FAFC66-337C-46F6-84CF-1CC36FE8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የእስላይድ ቁጥር ቦታ ያዥ 8">
            <a:extLst>
              <a:ext uri="{FF2B5EF4-FFF2-40B4-BE49-F238E27FC236}">
                <a16:creationId xmlns:a16="http://schemas.microsoft.com/office/drawing/2014/main" id="{81DAE6BC-D399-4A9D-88CC-DC82A0F9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02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ርዕስ ብ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851D0A5C-4898-48F2-8E05-38AB42F3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የቀን ቦታ ያዥ 2">
            <a:extLst>
              <a:ext uri="{FF2B5EF4-FFF2-40B4-BE49-F238E27FC236}">
                <a16:creationId xmlns:a16="http://schemas.microsoft.com/office/drawing/2014/main" id="{E1E261E0-169F-43EA-9364-0A4DD3A9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ግርጌ አደር ቦታ ያዥ 3">
            <a:extLst>
              <a:ext uri="{FF2B5EF4-FFF2-40B4-BE49-F238E27FC236}">
                <a16:creationId xmlns:a16="http://schemas.microsoft.com/office/drawing/2014/main" id="{41F9AF55-6DFF-4C9E-95D8-B63484E6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የእስላይድ ቁጥር ቦታ ያዥ 4">
            <a:extLst>
              <a:ext uri="{FF2B5EF4-FFF2-40B4-BE49-F238E27FC236}">
                <a16:creationId xmlns:a16="http://schemas.microsoft.com/office/drawing/2014/main" id="{83175EB0-FFFA-4A02-86A2-0A05DA04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ባ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ቀን ቦታ ያዥ 1">
            <a:extLst>
              <a:ext uri="{FF2B5EF4-FFF2-40B4-BE49-F238E27FC236}">
                <a16:creationId xmlns:a16="http://schemas.microsoft.com/office/drawing/2014/main" id="{1C6A0C40-DBA7-4043-9D03-32E4DFC3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3" name="ግርጌ አደር ቦታ ያዥ 2">
            <a:extLst>
              <a:ext uri="{FF2B5EF4-FFF2-40B4-BE49-F238E27FC236}">
                <a16:creationId xmlns:a16="http://schemas.microsoft.com/office/drawing/2014/main" id="{CCACDBE6-B717-4AB2-A2D3-5A87CBE6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የእስላይድ ቁጥር ቦታ ያዥ 3">
            <a:extLst>
              <a:ext uri="{FF2B5EF4-FFF2-40B4-BE49-F238E27FC236}">
                <a16:creationId xmlns:a16="http://schemas.microsoft.com/office/drawing/2014/main" id="{6B2E94B4-BCB6-4B98-B2F6-03F0CF88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5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ከመግለጫ ፅሁፍ ጋር ያለ ይዘ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C5558B33-7C14-44DE-9021-9E1E4E6D5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C89B1F60-E8B9-41CD-8F23-839E431C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4" name="ፅሁፍ ቦታ ያዥ 3">
            <a:extLst>
              <a:ext uri="{FF2B5EF4-FFF2-40B4-BE49-F238E27FC236}">
                <a16:creationId xmlns:a16="http://schemas.microsoft.com/office/drawing/2014/main" id="{376E75F9-B42A-405E-A723-31CA3D1F5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m-ET"/>
              <a:t>የዋና ፅሁፍ ቅጦችን አርትዕ ለማድረግ ጠቅ ያድርጉ</a:t>
            </a:r>
          </a:p>
        </p:txBody>
      </p:sp>
      <p:sp>
        <p:nvSpPr>
          <p:cNvPr id="5" name="የቀን ቦታ ያዥ 4">
            <a:extLst>
              <a:ext uri="{FF2B5EF4-FFF2-40B4-BE49-F238E27FC236}">
                <a16:creationId xmlns:a16="http://schemas.microsoft.com/office/drawing/2014/main" id="{7179AE5E-0311-42F7-A9C6-AD658035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ግርጌ አደር ቦታ ያዥ 5">
            <a:extLst>
              <a:ext uri="{FF2B5EF4-FFF2-40B4-BE49-F238E27FC236}">
                <a16:creationId xmlns:a16="http://schemas.microsoft.com/office/drawing/2014/main" id="{1F419070-297F-4786-AD1E-61FE7C13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የእስላይድ ቁጥር ቦታ ያዥ 6">
            <a:extLst>
              <a:ext uri="{FF2B5EF4-FFF2-40B4-BE49-F238E27FC236}">
                <a16:creationId xmlns:a16="http://schemas.microsoft.com/office/drawing/2014/main" id="{9D130BEE-F96F-4214-83FC-A248923F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4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ከመግለጫ ፅሁፍ ጋር ያለ ስዕ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23B2E41D-0AF3-45D1-8712-3ADE9BFF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የስዕል ቦታ ያዥ 2">
            <a:extLst>
              <a:ext uri="{FF2B5EF4-FFF2-40B4-BE49-F238E27FC236}">
                <a16:creationId xmlns:a16="http://schemas.microsoft.com/office/drawing/2014/main" id="{28DE84D4-594F-41AC-8C68-381ABF593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ፅሁፍ ቦታ ያዥ 3">
            <a:extLst>
              <a:ext uri="{FF2B5EF4-FFF2-40B4-BE49-F238E27FC236}">
                <a16:creationId xmlns:a16="http://schemas.microsoft.com/office/drawing/2014/main" id="{275014EA-9E89-48A7-BE22-0D6DB44BD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m-ET"/>
              <a:t>የዋና ፅሁፍ ቅጦችን አርትዕ ለማድረግ ጠቅ ያድርጉ</a:t>
            </a:r>
          </a:p>
        </p:txBody>
      </p:sp>
      <p:sp>
        <p:nvSpPr>
          <p:cNvPr id="5" name="የቀን ቦታ ያዥ 4">
            <a:extLst>
              <a:ext uri="{FF2B5EF4-FFF2-40B4-BE49-F238E27FC236}">
                <a16:creationId xmlns:a16="http://schemas.microsoft.com/office/drawing/2014/main" id="{D113CA6B-F92A-4B32-8B28-E47A16B3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ግርጌ አደር ቦታ ያዥ 5">
            <a:extLst>
              <a:ext uri="{FF2B5EF4-FFF2-40B4-BE49-F238E27FC236}">
                <a16:creationId xmlns:a16="http://schemas.microsoft.com/office/drawing/2014/main" id="{99585D84-9C1D-4942-B044-27A10F25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የእስላይድ ቁጥር ቦታ ያዥ 6">
            <a:extLst>
              <a:ext uri="{FF2B5EF4-FFF2-40B4-BE49-F238E27FC236}">
                <a16:creationId xmlns:a16="http://schemas.microsoft.com/office/drawing/2014/main" id="{66C41833-DF3B-491F-BF61-D050D3F2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2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ርዕስና አቀባዊ ፅሁ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5210C98A-27F0-4E65-8737-378B7BA8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የአቀብ ሰለፍ ቦታ ያዥ 2">
            <a:extLst>
              <a:ext uri="{FF2B5EF4-FFF2-40B4-BE49-F238E27FC236}">
                <a16:creationId xmlns:a16="http://schemas.microsoft.com/office/drawing/2014/main" id="{0FA55B68-78E1-4E21-8894-5A1E9B0E4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4" name="የቀን ቦታ ያዥ 3">
            <a:extLst>
              <a:ext uri="{FF2B5EF4-FFF2-40B4-BE49-F238E27FC236}">
                <a16:creationId xmlns:a16="http://schemas.microsoft.com/office/drawing/2014/main" id="{8389D6B6-191B-491B-82AA-830ED8A0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ግርጌ አደር ቦታ ያዥ 4">
            <a:extLst>
              <a:ext uri="{FF2B5EF4-FFF2-40B4-BE49-F238E27FC236}">
                <a16:creationId xmlns:a16="http://schemas.microsoft.com/office/drawing/2014/main" id="{F255B584-E9EB-47AA-9905-522817A5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የእስላይድ ቁጥር ቦታ ያዥ 5">
            <a:extLst>
              <a:ext uri="{FF2B5EF4-FFF2-40B4-BE49-F238E27FC236}">
                <a16:creationId xmlns:a16="http://schemas.microsoft.com/office/drawing/2014/main" id="{68D91B22-42C5-4375-AB2C-1B85DFF3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1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አቀባዊ ርዕስና ፅሁ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አቀባዊ ርእስ 1">
            <a:extLst>
              <a:ext uri="{FF2B5EF4-FFF2-40B4-BE49-F238E27FC236}">
                <a16:creationId xmlns:a16="http://schemas.microsoft.com/office/drawing/2014/main" id="{577CEA52-1F0E-4CC6-B452-2223E4EB8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የአቀብ ሰለፍ ቦታ ያዥ 2">
            <a:extLst>
              <a:ext uri="{FF2B5EF4-FFF2-40B4-BE49-F238E27FC236}">
                <a16:creationId xmlns:a16="http://schemas.microsoft.com/office/drawing/2014/main" id="{0730EF67-392F-4495-870F-5909D6040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4" name="የቀን ቦታ ያዥ 3">
            <a:extLst>
              <a:ext uri="{FF2B5EF4-FFF2-40B4-BE49-F238E27FC236}">
                <a16:creationId xmlns:a16="http://schemas.microsoft.com/office/drawing/2014/main" id="{492E284E-8A78-4E58-8EAD-F06A9235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ግርጌ አደር ቦታ ያዥ 4">
            <a:extLst>
              <a:ext uri="{FF2B5EF4-FFF2-40B4-BE49-F238E27FC236}">
                <a16:creationId xmlns:a16="http://schemas.microsoft.com/office/drawing/2014/main" id="{D7417759-3376-4A6B-BDE8-88321694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የእስላይድ ቁጥር ቦታ ያዥ 5">
            <a:extLst>
              <a:ext uri="{FF2B5EF4-FFF2-40B4-BE49-F238E27FC236}">
                <a16:creationId xmlns:a16="http://schemas.microsoft.com/office/drawing/2014/main" id="{A7DDB877-EF60-41EB-AAAF-2C604457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2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የርዕስ ቦታ ያዥ 1">
            <a:extLst>
              <a:ext uri="{FF2B5EF4-FFF2-40B4-BE49-F238E27FC236}">
                <a16:creationId xmlns:a16="http://schemas.microsoft.com/office/drawing/2014/main" id="{C2B1C437-E5B8-4B7C-8292-5CBD7E77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m-ET"/>
              <a:t>የዋና ርዕስ ቅጥ አርትዕ ለማድረግ ጠቅ ያድርጉ</a:t>
            </a:r>
            <a:endParaRPr lang="en-US"/>
          </a:p>
        </p:txBody>
      </p:sp>
      <p:sp>
        <p:nvSpPr>
          <p:cNvPr id="3" name="ፅሁፍ ቦታ ያዥ 2">
            <a:extLst>
              <a:ext uri="{FF2B5EF4-FFF2-40B4-BE49-F238E27FC236}">
                <a16:creationId xmlns:a16="http://schemas.microsoft.com/office/drawing/2014/main" id="{5C4C27DC-CC6F-4BDB-A209-AFD8B6609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m-ET"/>
              <a:t>የዋና ፅሁፍ ቅጦችን አርትዕ ለማድረግ ጠቅ ያድርጉ</a:t>
            </a:r>
          </a:p>
          <a:p>
            <a:pPr lvl="1"/>
            <a:r>
              <a:rPr lang="am-ET"/>
              <a:t>ሁለተኛ ደረጃ</a:t>
            </a:r>
          </a:p>
          <a:p>
            <a:pPr lvl="2"/>
            <a:r>
              <a:rPr lang="am-ET"/>
              <a:t>ሶስተኛ ደረጃ</a:t>
            </a:r>
          </a:p>
          <a:p>
            <a:pPr lvl="3"/>
            <a:r>
              <a:rPr lang="am-ET"/>
              <a:t>አራተኛ ደረጃ</a:t>
            </a:r>
          </a:p>
          <a:p>
            <a:pPr lvl="4"/>
            <a:r>
              <a:rPr lang="am-ET"/>
              <a:t>አምስተኛ ደረጃ</a:t>
            </a:r>
            <a:endParaRPr lang="en-US"/>
          </a:p>
        </p:txBody>
      </p:sp>
      <p:sp>
        <p:nvSpPr>
          <p:cNvPr id="4" name="የቀን ቦታ ያዥ 3">
            <a:extLst>
              <a:ext uri="{FF2B5EF4-FFF2-40B4-BE49-F238E27FC236}">
                <a16:creationId xmlns:a16="http://schemas.microsoft.com/office/drawing/2014/main" id="{62D5CB5A-96E1-47BB-8999-847167563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4AB6-50E7-422C-9ECD-838011C4E26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ግርጌ አደር ቦታ ያዥ 4">
            <a:extLst>
              <a:ext uri="{FF2B5EF4-FFF2-40B4-BE49-F238E27FC236}">
                <a16:creationId xmlns:a16="http://schemas.microsoft.com/office/drawing/2014/main" id="{5A5278DA-F30B-41B9-8BB2-B68B99E4D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የእስላይድ ቁጥር ቦታ ያዥ 5">
            <a:extLst>
              <a:ext uri="{FF2B5EF4-FFF2-40B4-BE49-F238E27FC236}">
                <a16:creationId xmlns:a16="http://schemas.microsoft.com/office/drawing/2014/main" id="{9B06EE77-F1F5-47FD-88E7-A0921EE45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1F816-6AA4-493E-9B56-02EEA0FE2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6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4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2.xml" 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2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2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2.xml" 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DE1087DF-40CE-46D4-8E5A-CE41149B3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Internet Programming </a:t>
            </a:r>
            <a:r>
              <a:rPr lang="en-US" sz="4800" dirty="0"/>
              <a:t>(CoSc3211)</a:t>
            </a:r>
            <a:endParaRPr lang="en-US" dirty="0"/>
          </a:p>
        </p:txBody>
      </p:sp>
      <p:sp>
        <p:nvSpPr>
          <p:cNvPr id="3" name="ንኡስ ርእስ 2">
            <a:extLst>
              <a:ext uri="{FF2B5EF4-FFF2-40B4-BE49-F238E27FC236}">
                <a16:creationId xmlns:a16="http://schemas.microsoft.com/office/drawing/2014/main" id="{A209E210-3AA6-48A9-95AC-BAF1724B7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92500" lnSpcReduction="10000"/>
          </a:bodyPr>
          <a:lstStyle/>
          <a:p>
            <a:endParaRPr lang="en-US" sz="3600" dirty="0"/>
          </a:p>
          <a:p>
            <a:r>
              <a:rPr lang="en-US" sz="3600" b="1" dirty="0"/>
              <a:t>Chapter 4</a:t>
            </a:r>
          </a:p>
          <a:p>
            <a:r>
              <a:rPr lang="en-US" sz="3600" dirty="0"/>
              <a:t>Java script </a:t>
            </a:r>
          </a:p>
        </p:txBody>
      </p:sp>
      <p:pic>
        <p:nvPicPr>
          <p:cNvPr id="10" name="ስእል 9">
            <a:extLst>
              <a:ext uri="{FF2B5EF4-FFF2-40B4-BE49-F238E27FC236}">
                <a16:creationId xmlns:a16="http://schemas.microsoft.com/office/drawing/2014/main" id="{91571984-D1E6-4E36-AF01-FD2790671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117" y="0"/>
            <a:ext cx="2567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7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853E30C2-4B2A-4EF9-A18D-55A05392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9945" y="260253"/>
            <a:ext cx="2130287" cy="1325563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ECDB817A-178F-4D89-A042-29205271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945" y="1420836"/>
            <a:ext cx="4616037" cy="5176911"/>
          </a:xfrm>
        </p:spPr>
        <p:txBody>
          <a:bodyPr>
            <a:normAutofit/>
          </a:bodyPr>
          <a:lstStyle/>
          <a:p>
            <a:r>
              <a:rPr lang="en-US" dirty="0"/>
              <a:t>Introduction to JavaScript</a:t>
            </a:r>
          </a:p>
          <a:p>
            <a:r>
              <a:rPr lang="en-US" dirty="0"/>
              <a:t>Variables, Expression, Control Structure, Array</a:t>
            </a:r>
          </a:p>
          <a:p>
            <a:r>
              <a:rPr lang="en-US" dirty="0"/>
              <a:t>Java script Functions</a:t>
            </a:r>
          </a:p>
          <a:p>
            <a:r>
              <a:rPr lang="en-US" dirty="0"/>
              <a:t>Handling Events and Exception Handling</a:t>
            </a:r>
          </a:p>
          <a:p>
            <a:r>
              <a:rPr lang="en-US" dirty="0"/>
              <a:t>User Inputs: Form Processing</a:t>
            </a:r>
          </a:p>
        </p:txBody>
      </p:sp>
      <p:pic>
        <p:nvPicPr>
          <p:cNvPr id="6" name="ስእል 5">
            <a:extLst>
              <a:ext uri="{FF2B5EF4-FFF2-40B4-BE49-F238E27FC236}">
                <a16:creationId xmlns:a16="http://schemas.microsoft.com/office/drawing/2014/main" id="{8888FE6C-3B02-4FA2-930C-F43957BC0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8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2BA6EBA6-53DA-431E-BB8A-169087E6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What is JavaScript?</a:t>
            </a:r>
          </a:p>
          <a:p>
            <a:pPr lvl="1" algn="just"/>
            <a:r>
              <a:rPr lang="en-US" sz="2600" i="1" dirty="0"/>
              <a:t>[Simply] </a:t>
            </a:r>
            <a:r>
              <a:rPr lang="en-US" sz="2600" dirty="0"/>
              <a:t>JavaScript (often abbreviated as </a:t>
            </a:r>
            <a:r>
              <a:rPr lang="en-US" sz="2600" dirty="0">
                <a:solidFill>
                  <a:srgbClr val="FF0000"/>
                </a:solidFill>
              </a:rPr>
              <a:t>JS</a:t>
            </a:r>
            <a:r>
              <a:rPr lang="en-US" sz="2600" dirty="0"/>
              <a:t>): is an object-oriented computer programming language commonly used to create interactive effects within web browsers.</a:t>
            </a:r>
          </a:p>
        </p:txBody>
      </p:sp>
    </p:spTree>
    <p:extLst>
      <p:ext uri="{BB962C8B-B14F-4D97-AF65-F5344CB8AC3E}">
        <p14:creationId xmlns:p14="http://schemas.microsoft.com/office/powerpoint/2010/main" val="389929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2BA6EBA6-53DA-431E-BB8A-169087E6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What is JavaScript? (cont...)</a:t>
            </a:r>
          </a:p>
          <a:p>
            <a:pPr lvl="1" algn="just"/>
            <a:r>
              <a:rPr lang="en-US" dirty="0"/>
              <a:t>JavaScript was initially created to “make web pages alive”.</a:t>
            </a:r>
          </a:p>
          <a:p>
            <a:pPr lvl="1" algn="just"/>
            <a:r>
              <a:rPr lang="en-US" dirty="0"/>
              <a:t>The programs in this language are called scripts. They can be written right in a web page’s HTML and executed automatically as the page loads.</a:t>
            </a:r>
          </a:p>
          <a:p>
            <a:pPr lvl="1" algn="just"/>
            <a:r>
              <a:rPr lang="en-US" dirty="0"/>
              <a:t>Scripts are provided and executed as plain text. They don’t need special preparation or compilation to run.</a:t>
            </a:r>
          </a:p>
          <a:p>
            <a:pPr lvl="1" algn="just"/>
            <a:r>
              <a:rPr lang="en-US" dirty="0"/>
              <a:t>In this aspect, JavaScript is very different from another language called Java.</a:t>
            </a:r>
          </a:p>
          <a:p>
            <a:pPr lvl="1" algn="just"/>
            <a:r>
              <a:rPr lang="en-US" dirty="0"/>
              <a:t>When JavaScript was created, it initially had another name: “</a:t>
            </a:r>
            <a:r>
              <a:rPr lang="en-US" dirty="0" err="1"/>
              <a:t>LiveScript</a:t>
            </a:r>
            <a:r>
              <a:rPr lang="en-US" dirty="0"/>
              <a:t>”. But Java was very popular at that time, so it was decided that positioning a new language as a “younger brother” of Java would help.</a:t>
            </a:r>
          </a:p>
          <a:p>
            <a:pPr lvl="1" algn="just"/>
            <a:r>
              <a:rPr lang="en-US" dirty="0"/>
              <a:t>But as it evolved, JavaScript became a fully independent language with its own specification called ECMAScript, and now it has no relation to Java at all.</a:t>
            </a:r>
          </a:p>
        </p:txBody>
      </p:sp>
    </p:spTree>
    <p:extLst>
      <p:ext uri="{BB962C8B-B14F-4D97-AF65-F5344CB8AC3E}">
        <p14:creationId xmlns:p14="http://schemas.microsoft.com/office/powerpoint/2010/main" val="387817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2BA6EBA6-53DA-431E-BB8A-169087E6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What is JavaScript? (cont...)</a:t>
            </a:r>
          </a:p>
          <a:p>
            <a:pPr lvl="1" algn="just"/>
            <a:r>
              <a:rPr lang="en-US" dirty="0"/>
              <a:t>JavaScript: the first Web scripting language, developed by Netscape in 1995 syntactic similarities to Java/C++, </a:t>
            </a:r>
          </a:p>
          <a:p>
            <a:pPr lvl="2" algn="just"/>
            <a:r>
              <a:rPr lang="en-US" dirty="0"/>
              <a:t>but simpler &amp; more flexible </a:t>
            </a:r>
          </a:p>
          <a:p>
            <a:pPr lvl="2" algn="just"/>
            <a:r>
              <a:rPr lang="en-US" dirty="0"/>
              <a:t>loose typing, dynamic variables, simple objects.</a:t>
            </a:r>
          </a:p>
          <a:p>
            <a:pPr lvl="1" algn="just"/>
            <a:r>
              <a:rPr lang="en-US" dirty="0"/>
              <a:t>An object-oriented scripting language that is designed primarily for people who are building web pages using HTML.</a:t>
            </a:r>
          </a:p>
          <a:p>
            <a:pPr lvl="1" algn="just"/>
            <a:r>
              <a:rPr lang="en-US" b="1" dirty="0"/>
              <a:t>HTML</a:t>
            </a:r>
            <a:r>
              <a:rPr lang="en-US" dirty="0"/>
              <a:t> to define the content of web pages</a:t>
            </a:r>
          </a:p>
          <a:p>
            <a:pPr lvl="1" algn="just"/>
            <a:r>
              <a:rPr lang="en-US" b="1" dirty="0"/>
              <a:t>CSS </a:t>
            </a:r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dirty="0"/>
              <a:t>specify the layout of web pages</a:t>
            </a:r>
          </a:p>
          <a:p>
            <a:pPr lvl="1" algn="just"/>
            <a:r>
              <a:rPr lang="en-US" b="1" dirty="0"/>
              <a:t>JavaScript</a:t>
            </a:r>
            <a:r>
              <a:rPr lang="en-US" dirty="0"/>
              <a:t> to program the behavior of web pages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25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2BA6EBA6-53DA-431E-BB8A-169087E6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JavaScript programs are embedded within HTML documents in source code form which is interpreted by the browser.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Platform independence</a:t>
            </a:r>
          </a:p>
          <a:p>
            <a:pPr marL="0" indent="0" algn="just">
              <a:buNone/>
            </a:pPr>
            <a:r>
              <a:rPr lang="en-US" dirty="0"/>
              <a:t>Recall:</a:t>
            </a:r>
          </a:p>
          <a:p>
            <a:pPr lvl="1" algn="just"/>
            <a:r>
              <a:rPr lang="en-US" dirty="0"/>
              <a:t>HTML is good for developing static pages.</a:t>
            </a:r>
          </a:p>
          <a:p>
            <a:pPr lvl="2" algn="just"/>
            <a:r>
              <a:rPr lang="en-US" dirty="0"/>
              <a:t>Can specify text/image layout, presentation, links.</a:t>
            </a:r>
          </a:p>
          <a:p>
            <a:pPr lvl="2" algn="just"/>
            <a:r>
              <a:rPr lang="en-US" dirty="0"/>
              <a:t>Web page looks the same each time it is accessed</a:t>
            </a:r>
          </a:p>
          <a:p>
            <a:pPr lvl="2" algn="just"/>
            <a:r>
              <a:rPr lang="en-US" dirty="0"/>
              <a:t>In order to develop interactive/reactive pages, we must integrate different programming</a:t>
            </a:r>
          </a:p>
        </p:txBody>
      </p:sp>
    </p:spTree>
    <p:extLst>
      <p:ext uri="{BB962C8B-B14F-4D97-AF65-F5344CB8AC3E}">
        <p14:creationId xmlns:p14="http://schemas.microsoft.com/office/powerpoint/2010/main" val="55508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897639-5367-46EB-A750-F6B7123AF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sz="2600" dirty="0"/>
              <a:t>JavaScript code can be embedded in a Web page using SCRIPT tags</a:t>
            </a:r>
          </a:p>
          <a:p>
            <a:pPr lvl="1" algn="just"/>
            <a:r>
              <a:rPr lang="en-US" altLang="en-US" sz="2200" dirty="0"/>
              <a:t>the output of JavaScript code is displayed as if directly entered in HTML</a:t>
            </a:r>
          </a:p>
          <a:p>
            <a:pPr algn="just"/>
            <a:r>
              <a:rPr lang="en-US" altLang="en-US" sz="2600" dirty="0"/>
              <a:t>JavaScript can be placed in the &lt;body&gt; and the &lt;head&gt; sections of an HTML page.</a:t>
            </a:r>
          </a:p>
          <a:p>
            <a:pPr algn="just"/>
            <a:r>
              <a:rPr lang="en-US" altLang="en-US" sz="2600" dirty="0"/>
              <a:t>In HTML, JavaScript code must be inserted between &lt;script&gt; and &lt;/script&gt; tags.</a:t>
            </a:r>
          </a:p>
          <a:p>
            <a:pPr lvl="2" algn="just">
              <a:buNone/>
            </a:pPr>
            <a:r>
              <a:rPr lang="en-US" altLang="en-US" sz="2600" i="1" dirty="0">
                <a:solidFill>
                  <a:srgbClr val="FF0000"/>
                </a:solidFill>
              </a:rPr>
              <a:t>&lt;script type="text/</a:t>
            </a:r>
            <a:r>
              <a:rPr lang="en-US" altLang="en-US" sz="2600" i="1" dirty="0" err="1">
                <a:solidFill>
                  <a:srgbClr val="FF0000"/>
                </a:solidFill>
              </a:rPr>
              <a:t>javascript</a:t>
            </a:r>
            <a:r>
              <a:rPr lang="en-US" altLang="en-US" sz="2600" i="1" dirty="0">
                <a:solidFill>
                  <a:srgbClr val="FF0000"/>
                </a:solidFill>
              </a:rPr>
              <a:t>"&gt; </a:t>
            </a:r>
          </a:p>
          <a:p>
            <a:pPr lvl="2" algn="just">
              <a:buNone/>
            </a:pPr>
            <a:r>
              <a:rPr lang="en-US" altLang="en-US" sz="2600" i="1" dirty="0">
                <a:solidFill>
                  <a:srgbClr val="FF0000"/>
                </a:solidFill>
              </a:rPr>
              <a:t>… </a:t>
            </a:r>
          </a:p>
          <a:p>
            <a:pPr lvl="2" algn="just">
              <a:buNone/>
            </a:pPr>
            <a:r>
              <a:rPr lang="en-US" altLang="en-US" sz="2600" i="1" dirty="0">
                <a:solidFill>
                  <a:srgbClr val="FF0000"/>
                </a:solidFill>
              </a:rPr>
              <a:t>&lt;/script&gt;</a:t>
            </a:r>
          </a:p>
          <a:p>
            <a:pPr marL="228600" lvl="1" algn="just">
              <a:spcBef>
                <a:spcPts val="1000"/>
              </a:spcBef>
            </a:pPr>
            <a:r>
              <a:rPr lang="en-US" altLang="en-US" sz="2600" dirty="0"/>
              <a:t>The browser executes the program as it loads the page, integrating the dynamic output of the program with the static content of HTML</a:t>
            </a:r>
          </a:p>
          <a:p>
            <a:pPr algn="just"/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31613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A714FD-7F6A-419F-9907-F176ED8EF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083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  <a:defRPr/>
            </a:pPr>
            <a:r>
              <a:rPr lang="en-US" sz="3300" b="1" dirty="0"/>
              <a:t>JavaScript can perform the following task: </a:t>
            </a:r>
            <a:endParaRPr lang="en-US" sz="3300" dirty="0"/>
          </a:p>
          <a:p>
            <a:pPr marL="275273" indent="-283464" algn="just">
              <a:defRPr/>
            </a:pPr>
            <a:r>
              <a:rPr lang="en-US" dirty="0"/>
              <a:t>Decision making (switch and if statements)</a:t>
            </a:r>
          </a:p>
          <a:p>
            <a:pPr marL="275273" indent="-283464" algn="just">
              <a:defRPr/>
            </a:pPr>
            <a:r>
              <a:rPr lang="en-US" dirty="0"/>
              <a:t>Used in input data validation </a:t>
            </a:r>
          </a:p>
          <a:p>
            <a:pPr marL="275273" indent="-283464" algn="just">
              <a:defRPr/>
            </a:pPr>
            <a:r>
              <a:rPr lang="en-US" dirty="0"/>
              <a:t>Submitting forms(</a:t>
            </a:r>
            <a:r>
              <a:rPr lang="en-US" dirty="0" err="1"/>
              <a:t>document.forms</a:t>
            </a:r>
            <a:r>
              <a:rPr lang="en-US" dirty="0"/>
              <a:t>["</a:t>
            </a:r>
            <a:r>
              <a:rPr lang="en-US" dirty="0" err="1"/>
              <a:t>myform</a:t>
            </a:r>
            <a:r>
              <a:rPr lang="en-US" dirty="0"/>
              <a:t>"].submit();)</a:t>
            </a:r>
          </a:p>
          <a:p>
            <a:pPr marL="275273" indent="-283464" algn="just">
              <a:defRPr/>
            </a:pPr>
            <a:r>
              <a:rPr lang="en-US" dirty="0"/>
              <a:t>Performing complex mathematical calculations.</a:t>
            </a:r>
          </a:p>
          <a:p>
            <a:pPr marL="275273" indent="-283464" algn="just">
              <a:defRPr/>
            </a:pPr>
            <a:r>
              <a:rPr lang="en-US" dirty="0"/>
              <a:t>Adding dynamic features to Web pages</a:t>
            </a:r>
          </a:p>
          <a:p>
            <a:pPr marL="429768" lvl="1" indent="-182880" algn="just">
              <a:buClr>
                <a:schemeClr val="accent1">
                  <a:shade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2600" dirty="0"/>
              <a:t>Image rollovers</a:t>
            </a:r>
          </a:p>
          <a:p>
            <a:pPr marL="429768" lvl="1" indent="-182880" algn="just">
              <a:buClr>
                <a:schemeClr val="accent1">
                  <a:shade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2600" dirty="0"/>
              <a:t>Time-sensitive or random page elements</a:t>
            </a:r>
          </a:p>
          <a:p>
            <a:pPr marL="429768" lvl="1" indent="-182880" algn="just">
              <a:buClr>
                <a:schemeClr val="accent1">
                  <a:shade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2600" dirty="0"/>
              <a:t>Handling cookies (Cookies are data, stored in small text files, on your computer)</a:t>
            </a:r>
          </a:p>
          <a:p>
            <a:pPr marL="182880" indent="-237744" algn="just">
              <a:defRPr/>
            </a:pPr>
            <a:r>
              <a:rPr lang="en-US" dirty="0"/>
              <a:t>utilize buttons, text boxes, clickable images, prompts, frames</a:t>
            </a:r>
          </a:p>
          <a:p>
            <a:pPr marL="275273" indent="-283464" algn="just">
              <a:defRPr/>
            </a:pPr>
            <a:r>
              <a:rPr lang="en-US" dirty="0"/>
              <a:t>Can Change HTML Content  </a:t>
            </a:r>
          </a:p>
          <a:p>
            <a:pPr marL="275273" indent="-283464" algn="just">
              <a:defRPr/>
            </a:pPr>
            <a:r>
              <a:rPr lang="en-US" dirty="0"/>
              <a:t>Can Change the value of HTML Attributes </a:t>
            </a:r>
          </a:p>
          <a:p>
            <a:pPr marL="275273" indent="-283464" algn="just">
              <a:defRPr/>
            </a:pPr>
            <a:r>
              <a:rPr lang="en-US" dirty="0"/>
              <a:t>Can Change HTML styles for a given element</a:t>
            </a:r>
          </a:p>
          <a:p>
            <a:pPr marL="640080" lvl="1" indent="-237744" algn="just" eaLnBrk="1" fontAlgn="auto" hangingPunct="1">
              <a:spcAft>
                <a:spcPts val="0"/>
              </a:spcAft>
              <a:buFont typeface="Verdana"/>
              <a:buChar char="◦"/>
              <a:defRPr/>
            </a:pPr>
            <a:endParaRPr lang="en-US" sz="2600" dirty="0"/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897639-5367-46EB-A750-F6B7123AF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b="1" dirty="0"/>
              <a:t>Limitations of client-side scripting</a:t>
            </a:r>
          </a:p>
          <a:p>
            <a:pPr algn="just" eaLnBrk="1" hangingPunct="1"/>
            <a:r>
              <a:rPr lang="en-US" altLang="en-US" sz="2600" dirty="0"/>
              <a:t>Since script code is embedded in the page, viewable to the world</a:t>
            </a:r>
          </a:p>
          <a:p>
            <a:pPr algn="just" eaLnBrk="1" hangingPunct="1"/>
            <a:r>
              <a:rPr lang="en-US" altLang="en-US" sz="2600" dirty="0"/>
              <a:t>For security reasons, scripts are limited in what they can do</a:t>
            </a:r>
          </a:p>
          <a:p>
            <a:pPr lvl="1" algn="just" eaLnBrk="1" hangingPunct="1">
              <a:buFont typeface="Verdana" panose="020B0604030504040204" pitchFamily="34" charset="0"/>
              <a:buNone/>
            </a:pPr>
            <a:r>
              <a:rPr lang="en-US" altLang="en-US" sz="2600" dirty="0"/>
              <a:t>e.g., can't access the client's hard drive</a:t>
            </a:r>
          </a:p>
          <a:p>
            <a:pPr algn="just" eaLnBrk="1" hangingPunct="1"/>
            <a:r>
              <a:rPr lang="en-US" altLang="en-US" sz="2600" dirty="0"/>
              <a:t>Since designed to run on any machine platform, scripts do not contain platform specific commands</a:t>
            </a:r>
          </a:p>
          <a:p>
            <a:pPr algn="just" eaLnBrk="1" hangingPunct="1"/>
            <a:r>
              <a:rPr lang="en-US" altLang="en-US" sz="2600" dirty="0"/>
              <a:t>Script languages are not full-featured (didn’t support all features which is supported by java)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sz="2600" dirty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2849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DC0E5A-9ECF-48CA-92F8-892D020A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// Java script code inside the head part of our code </a:t>
            </a:r>
          </a:p>
          <a:p>
            <a:pPr lvl="1">
              <a:buNone/>
              <a:defRPr/>
            </a:pPr>
            <a:r>
              <a:rPr lang="en-US" sz="2800" dirty="0"/>
              <a:t>&lt;head&gt;</a:t>
            </a:r>
            <a:br>
              <a:rPr lang="en-US" sz="2800" dirty="0"/>
            </a:br>
            <a:r>
              <a:rPr lang="en-US" sz="2800" dirty="0"/>
              <a:t>&lt;script </a:t>
            </a:r>
            <a:r>
              <a:rPr lang="en-US" altLang="en-US" sz="2800" dirty="0"/>
              <a:t>type="text/</a:t>
            </a:r>
            <a:r>
              <a:rPr lang="en-US" altLang="en-US" sz="2800" dirty="0" err="1"/>
              <a:t>javascript</a:t>
            </a:r>
            <a:r>
              <a:rPr lang="en-US" altLang="en-US" sz="2800" dirty="0"/>
              <a:t>"</a:t>
            </a:r>
            <a:r>
              <a:rPr lang="en-US" sz="2800" dirty="0"/>
              <a:t>&gt;</a:t>
            </a:r>
            <a:br>
              <a:rPr lang="en-US" sz="2800" dirty="0"/>
            </a:br>
            <a:r>
              <a:rPr lang="en-US" sz="2800" dirty="0"/>
              <a:t>	function </a:t>
            </a:r>
            <a:r>
              <a:rPr lang="en-US" sz="2800" dirty="0" err="1"/>
              <a:t>myFunction</a:t>
            </a:r>
            <a:r>
              <a:rPr lang="en-US" sz="2800" dirty="0"/>
              <a:t>() {</a:t>
            </a:r>
            <a:br>
              <a:rPr lang="en-US" sz="2800" dirty="0"/>
            </a:br>
            <a:r>
              <a:rPr lang="en-US" sz="2800" dirty="0"/>
              <a:t>	---</a:t>
            </a:r>
            <a:br>
              <a:rPr lang="en-US" sz="2800" dirty="0"/>
            </a:br>
            <a:r>
              <a:rPr lang="en-US" sz="2800" dirty="0"/>
              <a:t>	}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sz="2800" dirty="0"/>
              <a:t>	&lt;/script&gt;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sz="2800" dirty="0"/>
              <a:t>&lt;/head&gt;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/ * </a:t>
            </a:r>
            <a:r>
              <a:rPr lang="en-US" dirty="0" err="1"/>
              <a:t>Javascript</a:t>
            </a:r>
            <a:r>
              <a:rPr lang="en-US" dirty="0"/>
              <a:t> code inside the body part of our html code */</a:t>
            </a:r>
          </a:p>
          <a:p>
            <a:pPr marL="273367" indent="-237744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//   </a:t>
            </a:r>
            <a:r>
              <a:rPr lang="en-US" b="1" dirty="0"/>
              <a:t>starts a single line comment</a:t>
            </a:r>
          </a:p>
          <a:p>
            <a:pPr marL="273367" indent="-237744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/*…*/ </a:t>
            </a:r>
            <a:r>
              <a:rPr lang="en-US" b="1" dirty="0"/>
              <a:t>enclose multi-line comments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4368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ACD8BF-EA85-4C6F-AD46-0A7811980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 sz="3000" b="1" dirty="0"/>
              <a:t>External JavaScript</a:t>
            </a:r>
            <a:endParaRPr lang="en-US" altLang="en-US" sz="2500" b="1" dirty="0"/>
          </a:p>
          <a:p>
            <a:pPr eaLnBrk="1" hangingPunct="1"/>
            <a:r>
              <a:rPr lang="en-US" altLang="en-US" dirty="0"/>
              <a:t>Scripts can also be placed in external files.</a:t>
            </a:r>
          </a:p>
          <a:p>
            <a:pPr eaLnBrk="1" hangingPunct="1"/>
            <a:r>
              <a:rPr lang="en-US" altLang="en-US" dirty="0"/>
              <a:t>External scripts are practical when the same code is used in many different web pages.</a:t>
            </a:r>
          </a:p>
          <a:p>
            <a:pPr eaLnBrk="1" hangingPunct="1"/>
            <a:r>
              <a:rPr lang="en-US" altLang="en-US" dirty="0"/>
              <a:t>JavaScript files have the </a:t>
            </a:r>
            <a:r>
              <a:rPr lang="en-US" altLang="en-US" b="1" dirty="0"/>
              <a:t>file extension .</a:t>
            </a:r>
            <a:r>
              <a:rPr lang="en-US" altLang="en-US" b="1" dirty="0" err="1"/>
              <a:t>js</a:t>
            </a:r>
            <a:endParaRPr lang="en-US" altLang="en-US" dirty="0"/>
          </a:p>
          <a:p>
            <a:pPr eaLnBrk="1" hangingPunct="1"/>
            <a:r>
              <a:rPr lang="en-US" altLang="en-US" b="1" dirty="0"/>
              <a:t>To use an external script, put the name of the script file in the </a:t>
            </a:r>
            <a:r>
              <a:rPr lang="en-US" altLang="en-US" b="1" dirty="0" err="1"/>
              <a:t>src</a:t>
            </a:r>
            <a:r>
              <a:rPr lang="en-US" altLang="en-US" b="1" dirty="0"/>
              <a:t> (source) attribute of the &lt;script&gt; tag:</a:t>
            </a:r>
          </a:p>
          <a:p>
            <a:pPr marL="0" indent="0">
              <a:buNone/>
            </a:pPr>
            <a:r>
              <a:rPr lang="en-US" altLang="en-US" dirty="0"/>
              <a:t>	&lt;script </a:t>
            </a:r>
            <a:r>
              <a:rPr lang="en-US" altLang="en-US" dirty="0" err="1"/>
              <a:t>src</a:t>
            </a:r>
            <a:r>
              <a:rPr lang="en-US" altLang="en-US" dirty="0"/>
              <a:t>=“firstscript.js” type="text/</a:t>
            </a:r>
            <a:r>
              <a:rPr lang="en-US" altLang="en-US" dirty="0" err="1"/>
              <a:t>javascript</a:t>
            </a:r>
            <a:r>
              <a:rPr lang="en-US" altLang="en-US" dirty="0"/>
              <a:t>"&gt;</a:t>
            </a:r>
          </a:p>
          <a:p>
            <a:pPr marL="0" indent="0">
              <a:buNone/>
            </a:pPr>
            <a:r>
              <a:rPr lang="en-US" altLang="en-US" dirty="0"/>
              <a:t>	&lt;/script&gt;</a:t>
            </a:r>
          </a:p>
          <a:p>
            <a:pPr eaLnBrk="1" hangingPunct="1"/>
            <a:r>
              <a:rPr lang="en-US" altLang="en-US" dirty="0"/>
              <a:t>Behaves exactly as if the contents of the specified JavaScript file appeared directly between the tags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10240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85925C-B3ED-4C5A-8801-13E56A497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365125" indent="-282575" algn="just" eaLnBrk="1" hangingPunct="1">
              <a:buFont typeface="Wingdings" panose="05000000000000000000" pitchFamily="2" charset="2"/>
              <a:buNone/>
            </a:pPr>
            <a:r>
              <a:rPr lang="en-US" altLang="en-US" sz="2800" b="1" dirty="0"/>
              <a:t>Advantages:</a:t>
            </a:r>
          </a:p>
          <a:p>
            <a:pPr lvl="1" algn="just" eaLnBrk="1" hangingPunct="1"/>
            <a:r>
              <a:rPr lang="en-US" altLang="en-US" sz="2600" dirty="0"/>
              <a:t>Separation of HTML code from JavaScript code</a:t>
            </a:r>
          </a:p>
          <a:p>
            <a:pPr lvl="1" algn="just" eaLnBrk="1" hangingPunct="1"/>
            <a:r>
              <a:rPr lang="en-US" altLang="en-US" sz="2600" dirty="0"/>
              <a:t>It makes HTML and JavaScript easier to read and maintain</a:t>
            </a:r>
          </a:p>
          <a:p>
            <a:pPr lvl="1" algn="just" eaLnBrk="1" hangingPunct="1"/>
            <a:r>
              <a:rPr lang="en-US" altLang="en-US" sz="2600" dirty="0"/>
              <a:t>Less code has to be written, and stored.</a:t>
            </a:r>
          </a:p>
          <a:p>
            <a:pPr lvl="1" algn="just" eaLnBrk="1" hangingPunct="1"/>
            <a:r>
              <a:rPr lang="en-US" altLang="en-US" sz="2600" dirty="0"/>
              <a:t>Commonly used JavaScript code can be shared among a number of pages.</a:t>
            </a:r>
          </a:p>
          <a:p>
            <a:pPr lvl="1" algn="just" eaLnBrk="1" hangingPunct="1"/>
            <a:r>
              <a:rPr lang="en-US" altLang="en-US" sz="2600" dirty="0"/>
              <a:t>Only a single copy needs to be stored on the web server.</a:t>
            </a:r>
          </a:p>
          <a:p>
            <a:pPr lvl="1" algn="just" eaLnBrk="1" hangingPunct="1"/>
            <a:r>
              <a:rPr lang="en-US" altLang="en-US" sz="2600" dirty="0"/>
              <a:t>Such JavaScript files can be cached by the browser, thereby allowing faster loading of the pages.</a:t>
            </a:r>
          </a:p>
          <a:p>
            <a:pPr lvl="1" algn="just" eaLnBrk="1" hangingPunct="1"/>
            <a:r>
              <a:rPr lang="en-US" altLang="en-US" sz="2600" dirty="0"/>
              <a:t>The URL specified in the </a:t>
            </a:r>
            <a:r>
              <a:rPr lang="en-US" altLang="en-US" sz="2600" dirty="0" err="1"/>
              <a:t>src</a:t>
            </a:r>
            <a:r>
              <a:rPr lang="en-US" altLang="en-US" sz="2600" dirty="0"/>
              <a:t> attribute can refer to other web servers also.</a:t>
            </a:r>
          </a:p>
        </p:txBody>
      </p:sp>
    </p:spTree>
    <p:extLst>
      <p:ext uri="{BB962C8B-B14F-4D97-AF65-F5344CB8AC3E}">
        <p14:creationId xmlns:p14="http://schemas.microsoft.com/office/powerpoint/2010/main" val="229251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pic>
        <p:nvPicPr>
          <p:cNvPr id="5" name="ስእል 4">
            <a:extLst>
              <a:ext uri="{FF2B5EF4-FFF2-40B4-BE49-F238E27FC236}">
                <a16:creationId xmlns:a16="http://schemas.microsoft.com/office/drawing/2014/main" id="{DC822733-4139-4519-9AF3-CFF7AFE47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276" y="1659303"/>
            <a:ext cx="7087424" cy="482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3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57DAC9-5116-48B1-82E0-B5B4D2D61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600" dirty="0"/>
              <a:t>JavaScript does not have any </a:t>
            </a:r>
            <a:r>
              <a:rPr lang="en-US" altLang="en-US" sz="2600" b="1" i="1" dirty="0"/>
              <a:t>built-in print or display functions.</a:t>
            </a:r>
          </a:p>
          <a:p>
            <a:pPr eaLnBrk="1" hangingPunct="1"/>
            <a:r>
              <a:rPr lang="en-US" altLang="en-US" sz="2600" dirty="0"/>
              <a:t>JavaScript can "display" data in different ways: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US" altLang="en-US" sz="2300" dirty="0"/>
              <a:t> Writing into an alert box, using </a:t>
            </a:r>
            <a:r>
              <a:rPr lang="en-US" altLang="en-US" sz="2300" b="1" dirty="0" err="1"/>
              <a:t>window.alert</a:t>
            </a:r>
            <a:r>
              <a:rPr lang="en-US" altLang="en-US" sz="2300" b="1" dirty="0"/>
              <a:t>() </a:t>
            </a:r>
            <a:r>
              <a:rPr lang="en-US" altLang="en-US" sz="2300" dirty="0"/>
              <a:t>or simply </a:t>
            </a:r>
            <a:r>
              <a:rPr lang="en-US" altLang="en-US" sz="2300" b="1" dirty="0"/>
              <a:t>alert()</a:t>
            </a:r>
            <a:r>
              <a:rPr lang="en-US" altLang="en-US" sz="2300" dirty="0"/>
              <a:t>.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n-US" sz="2400" dirty="0"/>
              <a:t>     &lt;script&gt;</a:t>
            </a:r>
            <a:br>
              <a:rPr lang="en-US" altLang="en-US" sz="2400" dirty="0"/>
            </a:br>
            <a:r>
              <a:rPr lang="en-US" altLang="en-US" sz="2400" dirty="0"/>
              <a:t>      </a:t>
            </a:r>
            <a:r>
              <a:rPr lang="en-US" altLang="en-US" sz="2400" dirty="0" err="1"/>
              <a:t>window.alert</a:t>
            </a:r>
            <a:r>
              <a:rPr lang="en-US" altLang="en-US" sz="2400" dirty="0"/>
              <a:t>(“ Please fill the form!!”);</a:t>
            </a:r>
            <a:br>
              <a:rPr lang="en-US" altLang="en-US" sz="2400" dirty="0"/>
            </a:br>
            <a:r>
              <a:rPr lang="en-US" altLang="en-US" sz="2400" dirty="0"/>
              <a:t>&lt;/script&gt;</a:t>
            </a:r>
            <a:endParaRPr lang="en-US" altLang="en-US" sz="2300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5480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dirty="0"/>
              <a:t>Writing into the HTML output using </a:t>
            </a:r>
            <a:r>
              <a:rPr lang="en-US" altLang="en-US" b="1" dirty="0" err="1"/>
              <a:t>document.write</a:t>
            </a:r>
            <a:r>
              <a:rPr lang="en-US" altLang="en-US" b="1" dirty="0"/>
              <a:t>()</a:t>
            </a:r>
          </a:p>
          <a:p>
            <a:pPr marL="457200" lvl="1" indent="0" eaLnBrk="1" hangingPunct="1">
              <a:buNone/>
            </a:pPr>
            <a:r>
              <a:rPr lang="en-US" altLang="en-US" sz="2400" dirty="0"/>
              <a:t>      &lt;script&gt;</a:t>
            </a:r>
            <a:br>
              <a:rPr lang="en-US" altLang="en-US" sz="2400" dirty="0"/>
            </a:br>
            <a:r>
              <a:rPr lang="en-US" altLang="en-US" sz="2400" dirty="0"/>
              <a:t>          </a:t>
            </a:r>
            <a:r>
              <a:rPr lang="en-US" altLang="en-US" sz="2400" dirty="0" err="1"/>
              <a:t>document.write</a:t>
            </a:r>
            <a:r>
              <a:rPr lang="en-US" altLang="en-US" sz="2400" dirty="0"/>
              <a:t>(5 + 6);</a:t>
            </a:r>
            <a:br>
              <a:rPr lang="en-US" altLang="en-US" sz="2400" dirty="0"/>
            </a:br>
            <a:r>
              <a:rPr lang="en-US" altLang="en-US" sz="2400" dirty="0"/>
              <a:t>      &lt;/script&gt;</a:t>
            </a:r>
            <a:endParaRPr lang="en-US" altLang="en-US" sz="2300" dirty="0"/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dirty="0"/>
              <a:t>Writing into an HTML element, using </a:t>
            </a:r>
            <a:r>
              <a:rPr lang="en-US" altLang="en-US" b="1" dirty="0" err="1"/>
              <a:t>innerHTML</a:t>
            </a:r>
            <a:endParaRPr lang="en-US" altLang="en-US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&lt;p id="demo"&gt;&lt;/p&gt;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&lt;script&gt;</a:t>
            </a:r>
            <a:br>
              <a:rPr lang="en-US" altLang="en-US" sz="2400" dirty="0"/>
            </a:br>
            <a:r>
              <a:rPr lang="en-US" altLang="en-US" sz="2400" dirty="0" err="1"/>
              <a:t>document.getElementById</a:t>
            </a:r>
            <a:r>
              <a:rPr lang="en-US" altLang="en-US" sz="2400" dirty="0"/>
              <a:t>("demo").</a:t>
            </a:r>
            <a:r>
              <a:rPr lang="en-US" altLang="en-US" sz="2400" dirty="0" err="1"/>
              <a:t>innerHTML</a:t>
            </a:r>
            <a:r>
              <a:rPr lang="en-US" altLang="en-US" sz="2400" dirty="0"/>
              <a:t> =“Hello </a:t>
            </a:r>
            <a:r>
              <a:rPr lang="en-US" altLang="en-US" sz="2400" dirty="0" err="1"/>
              <a:t>Javascript</a:t>
            </a:r>
            <a:r>
              <a:rPr lang="en-US" altLang="en-US" sz="2400" dirty="0"/>
              <a:t>”;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&lt;/script&gt;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dirty="0"/>
              <a:t>Writing into the browser console, using </a:t>
            </a:r>
            <a:r>
              <a:rPr lang="en-US" altLang="en-US" b="1" dirty="0"/>
              <a:t>console.log()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n-US" sz="2400" dirty="0"/>
              <a:t>     &lt;script&gt;</a:t>
            </a:r>
            <a:br>
              <a:rPr lang="en-US" altLang="en-US" sz="2400" dirty="0"/>
            </a:br>
            <a:r>
              <a:rPr lang="en-US" altLang="en-US" sz="2400" dirty="0"/>
              <a:t>      console.log(5 + 6);</a:t>
            </a:r>
            <a:br>
              <a:rPr lang="en-US" altLang="en-US" sz="2400" dirty="0"/>
            </a:br>
            <a:r>
              <a:rPr lang="en-US" altLang="en-US" sz="2400" dirty="0"/>
              <a:t> &lt;/script&gt;</a:t>
            </a:r>
            <a:br>
              <a:rPr lang="en-US" altLang="en-US" sz="2400" dirty="0"/>
            </a:br>
            <a:endParaRPr lang="en-US" altLang="en-US" sz="23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000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81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en-US" sz="1800" dirty="0"/>
              <a:t>&lt;html&gt;</a:t>
            </a:r>
          </a:p>
          <a:p>
            <a:pPr>
              <a:buNone/>
            </a:pPr>
            <a:r>
              <a:rPr lang="en-US" altLang="en-US" sz="1800" dirty="0"/>
              <a:t>&lt;head&gt;</a:t>
            </a:r>
          </a:p>
          <a:p>
            <a:pPr>
              <a:buNone/>
            </a:pPr>
            <a:r>
              <a:rPr lang="en-US" altLang="en-US" sz="1800" dirty="0"/>
              <a:t>&lt;title&gt;JavaScript Page&lt;/title&gt;</a:t>
            </a:r>
          </a:p>
          <a:p>
            <a:pPr>
              <a:buNone/>
            </a:pPr>
            <a:r>
              <a:rPr lang="en-US" altLang="en-US" sz="1800" dirty="0"/>
              <a:t>&lt;/head&gt;</a:t>
            </a:r>
          </a:p>
          <a:p>
            <a:pPr>
              <a:buNone/>
            </a:pPr>
            <a:r>
              <a:rPr lang="en-US" altLang="en-US" sz="1800" dirty="0"/>
              <a:t>&lt;body&gt;</a:t>
            </a:r>
          </a:p>
          <a:p>
            <a:pPr>
              <a:buNone/>
            </a:pPr>
            <a:r>
              <a:rPr lang="en-US" altLang="en-US" sz="1800" dirty="0"/>
              <a:t>&lt;script type="text/</a:t>
            </a:r>
            <a:r>
              <a:rPr lang="en-US" altLang="en-US" sz="1800" dirty="0" err="1"/>
              <a:t>javascript</a:t>
            </a:r>
            <a:r>
              <a:rPr lang="en-US" altLang="en-US" sz="1800" dirty="0"/>
              <a:t>"&gt;</a:t>
            </a:r>
          </a:p>
          <a:p>
            <a:pPr>
              <a:buNone/>
            </a:pPr>
            <a:r>
              <a:rPr lang="en-US" altLang="en-US" sz="1800" dirty="0"/>
              <a:t>	// silly code to demonstrate output</a:t>
            </a:r>
          </a:p>
          <a:p>
            <a:pPr>
              <a:buNone/>
            </a:pPr>
            <a:r>
              <a:rPr lang="en-US" altLang="en-US" sz="1800" dirty="0"/>
              <a:t>	</a:t>
            </a:r>
            <a:r>
              <a:rPr lang="en-US" altLang="en-US" sz="1800" dirty="0" err="1"/>
              <a:t>document.write</a:t>
            </a:r>
            <a:r>
              <a:rPr lang="en-US" altLang="en-US" sz="1800" dirty="0"/>
              <a:t>("Hello world!");</a:t>
            </a:r>
          </a:p>
          <a:p>
            <a:pPr>
              <a:buNone/>
            </a:pPr>
            <a:r>
              <a:rPr lang="en-US" altLang="en-US" sz="1800" dirty="0"/>
              <a:t>	</a:t>
            </a:r>
            <a:r>
              <a:rPr lang="en-US" altLang="en-US" sz="1800" dirty="0" err="1"/>
              <a:t>document.write</a:t>
            </a:r>
            <a:r>
              <a:rPr lang="en-US" altLang="en-US" sz="1800" dirty="0"/>
              <a:t>("&lt;p&gt;How are &lt;</a:t>
            </a:r>
            <a:r>
              <a:rPr lang="en-US" altLang="en-US" sz="1800" dirty="0" err="1"/>
              <a:t>br</a:t>
            </a:r>
            <a:r>
              <a:rPr lang="en-US" altLang="en-US" sz="1800" dirty="0"/>
              <a:t> /&gt;" +"&lt;</a:t>
            </a:r>
            <a:r>
              <a:rPr lang="en-US" altLang="en-US" sz="1800" dirty="0" err="1"/>
              <a:t>i</a:t>
            </a:r>
            <a:r>
              <a:rPr lang="en-US" altLang="en-US" sz="1800" dirty="0"/>
              <a:t>&gt;you&lt;/</a:t>
            </a:r>
            <a:r>
              <a:rPr lang="en-US" altLang="en-US" sz="1800" dirty="0" err="1"/>
              <a:t>i</a:t>
            </a:r>
            <a:r>
              <a:rPr lang="en-US" altLang="en-US" sz="1800" dirty="0"/>
              <a:t>&gt;?&lt;/p&gt;");</a:t>
            </a:r>
          </a:p>
          <a:p>
            <a:pPr>
              <a:buNone/>
            </a:pPr>
            <a:r>
              <a:rPr lang="en-US" altLang="en-US" sz="1800" dirty="0"/>
              <a:t>&lt;/script&gt;</a:t>
            </a:r>
          </a:p>
          <a:p>
            <a:pPr>
              <a:buNone/>
            </a:pPr>
            <a:r>
              <a:rPr lang="en-US" altLang="en-US" sz="1800" dirty="0"/>
              <a:t>&lt;p&gt;Here is some static text as well.</a:t>
            </a:r>
          </a:p>
          <a:p>
            <a:pPr>
              <a:buNone/>
            </a:pPr>
            <a:r>
              <a:rPr lang="en-US" altLang="en-US" sz="1800" dirty="0"/>
              <a:t>&lt;/p&gt;&lt;/body&gt;</a:t>
            </a:r>
          </a:p>
          <a:p>
            <a:pPr>
              <a:buNone/>
            </a:pPr>
            <a:r>
              <a:rPr lang="en-US" altLang="en-US" sz="1800" dirty="0"/>
              <a:t>&lt;/html&gt;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4CED1DBB-5229-4CC2-A087-10D64BDE0E81}"/>
              </a:ext>
            </a:extLst>
          </p:cNvPr>
          <p:cNvSpPr txBox="1">
            <a:spLocks/>
          </p:cNvSpPr>
          <p:nvPr/>
        </p:nvSpPr>
        <p:spPr>
          <a:xfrm>
            <a:off x="7260110" y="2983174"/>
            <a:ext cx="4093690" cy="18071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en-US" sz="2400" dirty="0"/>
              <a:t>Hello world!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dirty="0"/>
              <a:t>How are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i="1" dirty="0"/>
              <a:t>you</a:t>
            </a:r>
            <a:r>
              <a:rPr lang="en-US" altLang="en-US" sz="2400" dirty="0"/>
              <a:t>?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dirty="0"/>
              <a:t>Here is some static text as well. 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4774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JavaScript Syntax</a:t>
            </a:r>
          </a:p>
          <a:p>
            <a:pPr lvl="1"/>
            <a:r>
              <a:rPr lang="en-US" altLang="en-US" dirty="0"/>
              <a:t>JavaScript syntax is the rules, how JavaScript programs are constructed.</a:t>
            </a:r>
          </a:p>
          <a:p>
            <a:pPr lvl="1"/>
            <a:r>
              <a:rPr lang="en-US" altLang="en-US" dirty="0"/>
              <a:t>JavaScript statements are separated by semicolon (</a:t>
            </a:r>
            <a:r>
              <a:rPr lang="en-US" altLang="en-US" dirty="0">
                <a:solidFill>
                  <a:srgbClr val="FF0000"/>
                </a:solidFill>
              </a:rPr>
              <a:t>;</a:t>
            </a:r>
            <a:r>
              <a:rPr lang="en-US" altLang="en-US" dirty="0"/>
              <a:t>)</a:t>
            </a:r>
          </a:p>
          <a:p>
            <a:pPr marL="914400" lvl="2" indent="0">
              <a:buNone/>
            </a:pPr>
            <a:r>
              <a:rPr lang="en-US" altLang="en-US" sz="2400" dirty="0"/>
              <a:t>var x = 5; var y = 6;</a:t>
            </a:r>
            <a:br>
              <a:rPr lang="en-US" altLang="en-US" sz="2400" dirty="0"/>
            </a:br>
            <a:r>
              <a:rPr lang="en-US" altLang="en-US" sz="2400" dirty="0"/>
              <a:t>var z = x + y;</a:t>
            </a:r>
          </a:p>
          <a:p>
            <a:pPr lvl="1"/>
            <a:r>
              <a:rPr lang="en-US" altLang="en-US" dirty="0"/>
              <a:t>JavaScript uses the </a:t>
            </a:r>
            <a:r>
              <a:rPr lang="en-US" altLang="en-US" b="1" dirty="0" err="1"/>
              <a:t>var</a:t>
            </a:r>
            <a:r>
              <a:rPr lang="en-US" altLang="en-US" dirty="0"/>
              <a:t> keyword to define variables.</a:t>
            </a:r>
          </a:p>
          <a:p>
            <a:pPr lvl="1"/>
            <a:r>
              <a:rPr lang="en-US" altLang="en-US" dirty="0"/>
              <a:t>JavaScript statements are composed of: Values, Operators, Expressions, Keywords, and Comments.</a:t>
            </a:r>
          </a:p>
          <a:p>
            <a:pPr lvl="1"/>
            <a:r>
              <a:rPr lang="en-US" altLang="en-US" dirty="0"/>
              <a:t>The JavaScript syntax defines two types of values: Fixed values and variable values.</a:t>
            </a:r>
          </a:p>
          <a:p>
            <a:pPr lvl="1"/>
            <a:r>
              <a:rPr lang="en-US" altLang="en-US" dirty="0"/>
              <a:t>Fixed values are called literals. Variable values are called variables. </a:t>
            </a:r>
          </a:p>
          <a:p>
            <a:pPr lvl="1"/>
            <a:r>
              <a:rPr lang="en-US" altLang="en-US" dirty="0"/>
              <a:t>In HTML, JavaScript programs can be executed by the browser.</a:t>
            </a:r>
            <a:endParaRPr lang="en-US" altLang="en-US" sz="20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965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Variables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The general rules for constructing names for variables (unique identifiers) are:</a:t>
            </a:r>
          </a:p>
          <a:p>
            <a:pPr lvl="1"/>
            <a:r>
              <a:rPr lang="en-US" altLang="en-US" sz="2700" dirty="0"/>
              <a:t>Names can contain letters, digits, underscores, and dollar signs.</a:t>
            </a:r>
          </a:p>
          <a:p>
            <a:pPr lvl="1"/>
            <a:r>
              <a:rPr lang="en-US" altLang="en-US" sz="2700" dirty="0"/>
              <a:t>Names must begin with a letter , $ (dollar sign) or _(underscore)</a:t>
            </a:r>
          </a:p>
          <a:p>
            <a:pPr lvl="1"/>
            <a:r>
              <a:rPr lang="en-US" altLang="en-US" sz="2700" dirty="0"/>
              <a:t>Names are case sensitive (y and Y are different variables)</a:t>
            </a:r>
          </a:p>
          <a:p>
            <a:pPr lvl="1"/>
            <a:r>
              <a:rPr lang="en-US" altLang="en-US" sz="2700" dirty="0"/>
              <a:t>Reserved words (like JavaScript keywords) cannot be used as names</a:t>
            </a:r>
          </a:p>
          <a:p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4920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JavaScript Syntax (cont...)</a:t>
            </a:r>
          </a:p>
          <a:p>
            <a:pPr lvl="1"/>
            <a:r>
              <a:rPr lang="en-US" altLang="en-US" dirty="0"/>
              <a:t>JavaScript uses an assignment operator ( = ) to assign values to variables:</a:t>
            </a:r>
          </a:p>
          <a:p>
            <a:pPr marL="457200" lvl="1" indent="0">
              <a:buNone/>
            </a:pPr>
            <a:r>
              <a:rPr lang="en-US" altLang="en-US" dirty="0"/>
              <a:t>	var x = 5;</a:t>
            </a:r>
            <a:br>
              <a:rPr lang="en-US" altLang="en-US" dirty="0"/>
            </a:br>
            <a:r>
              <a:rPr lang="en-US" altLang="en-US" dirty="0"/>
              <a:t>   	var y = 6;</a:t>
            </a:r>
          </a:p>
          <a:p>
            <a:pPr lvl="1"/>
            <a:r>
              <a:rPr lang="en-US" altLang="en-US" dirty="0"/>
              <a:t>JavaScript uses arithmetic operators ( + - * / ) to compute values:</a:t>
            </a:r>
          </a:p>
          <a:p>
            <a:pPr marL="457200" lvl="1" indent="0">
              <a:buNone/>
            </a:pPr>
            <a:r>
              <a:rPr lang="en-US" altLang="en-US" dirty="0"/>
              <a:t>	(5 + 6) * 10</a:t>
            </a:r>
          </a:p>
          <a:p>
            <a:pPr lvl="1"/>
            <a:r>
              <a:rPr lang="en-US" altLang="en-US" dirty="0"/>
              <a:t>JavaScript Keywords - are used to identify actions to be performed.</a:t>
            </a:r>
          </a:p>
          <a:p>
            <a:pPr marL="457200" lvl="1" indent="0">
              <a:buNone/>
            </a:pPr>
            <a:r>
              <a:rPr lang="en-US" altLang="en-US" i="1" dirty="0"/>
              <a:t>   </a:t>
            </a:r>
            <a:r>
              <a:rPr lang="en-US" altLang="en-US" i="1" dirty="0">
                <a:solidFill>
                  <a:srgbClr val="FF0000"/>
                </a:solidFill>
              </a:rPr>
              <a:t>Example:</a:t>
            </a:r>
            <a:r>
              <a:rPr lang="en-US" altLang="en-US" i="1" dirty="0"/>
              <a:t> </a:t>
            </a:r>
            <a:r>
              <a:rPr lang="en-US" altLang="en-US" dirty="0"/>
              <a:t>The var keyword tells the browser to create a new variable:</a:t>
            </a:r>
          </a:p>
          <a:p>
            <a:pPr marL="457200" lvl="1" indent="0">
              <a:buNone/>
            </a:pPr>
            <a:r>
              <a:rPr lang="en-US" altLang="en-US" dirty="0"/>
              <a:t>	var x = 5 + 6;</a:t>
            </a:r>
            <a:br>
              <a:rPr lang="en-US" altLang="en-US" dirty="0"/>
            </a:br>
            <a:r>
              <a:rPr lang="en-US" altLang="en-US" dirty="0"/>
              <a:t>    	var y = x * 10;</a:t>
            </a:r>
          </a:p>
        </p:txBody>
      </p:sp>
    </p:spTree>
    <p:extLst>
      <p:ext uri="{BB962C8B-B14F-4D97-AF65-F5344CB8AC3E}">
        <p14:creationId xmlns:p14="http://schemas.microsoft.com/office/powerpoint/2010/main" val="216531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JavaScript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JavaScript Syntax (cont...)</a:t>
            </a:r>
          </a:p>
          <a:p>
            <a:pPr lvl="1"/>
            <a:r>
              <a:rPr lang="en-US" altLang="en-US" dirty="0"/>
              <a:t>Not all JavaScript statements are "executed".</a:t>
            </a:r>
          </a:p>
          <a:p>
            <a:pPr lvl="1"/>
            <a:r>
              <a:rPr lang="en-US" altLang="en-US" dirty="0"/>
              <a:t>Code after double slashes // or between /* and */ is treated as a comment.</a:t>
            </a:r>
          </a:p>
          <a:p>
            <a:pPr lvl="1"/>
            <a:r>
              <a:rPr lang="en-US" altLang="en-US" dirty="0"/>
              <a:t>Comments are ignored, and will not be executed:</a:t>
            </a:r>
          </a:p>
          <a:p>
            <a:pPr marL="457200" lvl="1" indent="0">
              <a:buNone/>
            </a:pPr>
            <a:r>
              <a:rPr lang="en-US" altLang="en-US" dirty="0"/>
              <a:t>	var x = 5;   // I will be executed</a:t>
            </a:r>
            <a:br>
              <a:rPr lang="en-US" altLang="en-US" dirty="0"/>
            </a:br>
            <a:r>
              <a:rPr lang="en-US" altLang="en-US" dirty="0"/>
              <a:t>	// var x = 6;   I will NOT be executed</a:t>
            </a:r>
          </a:p>
          <a:p>
            <a:pPr lvl="1"/>
            <a:r>
              <a:rPr lang="en-US" altLang="en-US" dirty="0"/>
              <a:t>JavaScript is Case Sensitive - all JavaScript identifiers are case sensitive. </a:t>
            </a:r>
          </a:p>
          <a:p>
            <a:pPr lvl="1"/>
            <a:r>
              <a:rPr lang="en-US" altLang="en-US" dirty="0"/>
              <a:t>The variables </a:t>
            </a:r>
            <a:r>
              <a:rPr lang="en-US" altLang="en-US" dirty="0" err="1"/>
              <a:t>lastName</a:t>
            </a:r>
            <a:r>
              <a:rPr lang="en-US" altLang="en-US" dirty="0"/>
              <a:t> and </a:t>
            </a:r>
            <a:r>
              <a:rPr lang="en-US" altLang="en-US" dirty="0" err="1"/>
              <a:t>lastname</a:t>
            </a:r>
            <a:r>
              <a:rPr lang="en-US" altLang="en-US" dirty="0"/>
              <a:t>, are two different variables.</a:t>
            </a:r>
          </a:p>
          <a:p>
            <a:pPr marL="457200" lvl="1" indent="0"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lastName</a:t>
            </a:r>
            <a:r>
              <a:rPr lang="en-US" altLang="en-US" dirty="0"/>
              <a:t> = "Abel";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 err="1"/>
              <a:t>lastname</a:t>
            </a:r>
            <a:r>
              <a:rPr lang="en-US" altLang="en-US" dirty="0"/>
              <a:t> = "</a:t>
            </a:r>
            <a:r>
              <a:rPr lang="en-US" altLang="en-US" dirty="0" err="1"/>
              <a:t>Selam</a:t>
            </a:r>
            <a:r>
              <a:rPr lang="en-US" altLang="en-US" dirty="0"/>
              <a:t>";</a:t>
            </a:r>
          </a:p>
          <a:p>
            <a:pPr lvl="1"/>
            <a:r>
              <a:rPr lang="en-US" altLang="en-US" b="1" dirty="0"/>
              <a:t>JavaScript does not interpret VAR or Var as the keyword var.</a:t>
            </a:r>
          </a:p>
        </p:txBody>
      </p:sp>
    </p:spTree>
    <p:extLst>
      <p:ext uri="{BB962C8B-B14F-4D97-AF65-F5344CB8AC3E}">
        <p14:creationId xmlns:p14="http://schemas.microsoft.com/office/powerpoint/2010/main" val="352255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JavaScript Data Types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/>
              <a:t>In programming, data types is an important concept.</a:t>
            </a:r>
          </a:p>
          <a:p>
            <a:r>
              <a:rPr lang="en-US" altLang="en-US" dirty="0"/>
              <a:t>To be able to operate on variables, it is important to know something about the type.</a:t>
            </a:r>
          </a:p>
          <a:p>
            <a:r>
              <a:rPr lang="en-US" altLang="en-US" dirty="0"/>
              <a:t>Without data types, a computer cannot safely solve this: var x = 16 + "Volvo"</a:t>
            </a:r>
          </a:p>
          <a:p>
            <a:r>
              <a:rPr lang="en-US" altLang="en-US" dirty="0"/>
              <a:t>Does it make any sense to add "Volvo" to sixteen? Will produce an error or a result?</a:t>
            </a:r>
          </a:p>
          <a:p>
            <a:r>
              <a:rPr lang="en-US" altLang="en-US" b="1" dirty="0"/>
              <a:t>JavaScript has three primitive data types</a:t>
            </a:r>
          </a:p>
          <a:p>
            <a:r>
              <a:rPr lang="en-US" altLang="en-US" dirty="0"/>
              <a:t>strings    :  "foo"         'howdy do'           "I said 'hi’."	          ""</a:t>
            </a:r>
          </a:p>
          <a:p>
            <a:r>
              <a:rPr lang="en-US" altLang="en-US" dirty="0"/>
              <a:t>numbers :  12              3.14159                1.5E6</a:t>
            </a:r>
          </a:p>
          <a:p>
            <a:r>
              <a:rPr lang="en-US" altLang="en-US" dirty="0" err="1"/>
              <a:t>booleans</a:t>
            </a:r>
            <a:r>
              <a:rPr lang="en-US" altLang="en-US" dirty="0"/>
              <a:t> :  true          false</a:t>
            </a:r>
          </a:p>
          <a:p>
            <a:r>
              <a:rPr lang="en-US" altLang="en-US" dirty="0"/>
              <a:t>JavaScript variables can hold numbers like 100, and text values like “Hello JS".</a:t>
            </a:r>
          </a:p>
          <a:p>
            <a:pPr marL="0" indent="0">
              <a:buNone/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17103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Data Types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600" dirty="0"/>
              <a:t>In programming, text values are called text strings.</a:t>
            </a:r>
          </a:p>
          <a:p>
            <a:r>
              <a:rPr lang="en-US" altLang="en-US" sz="2600" dirty="0"/>
              <a:t>Strings are written inside double or single quotes. </a:t>
            </a:r>
          </a:p>
          <a:p>
            <a:pPr marL="0" indent="0">
              <a:buNone/>
            </a:pPr>
            <a:r>
              <a:rPr lang="en-US" altLang="en-US" sz="2600" dirty="0"/>
              <a:t>   </a:t>
            </a:r>
            <a:r>
              <a:rPr lang="en-US" altLang="en-US" sz="2600" dirty="0">
                <a:solidFill>
                  <a:srgbClr val="FF0000"/>
                </a:solidFill>
              </a:rPr>
              <a:t>Example:</a:t>
            </a:r>
            <a:r>
              <a:rPr lang="en-US" altLang="en-US" sz="2600" dirty="0"/>
              <a:t>  </a:t>
            </a:r>
          </a:p>
          <a:p>
            <a:pPr marL="0" indent="0">
              <a:buNone/>
            </a:pPr>
            <a:r>
              <a:rPr lang="en-US" altLang="en-US" sz="2600" dirty="0"/>
              <a:t>	var </a:t>
            </a:r>
            <a:r>
              <a:rPr lang="en-US" altLang="en-US" sz="2600" dirty="0" err="1"/>
              <a:t>carName</a:t>
            </a:r>
            <a:r>
              <a:rPr lang="en-US" altLang="en-US" sz="2600" dirty="0"/>
              <a:t> = "Volvo XC60";   // Using double quotes</a:t>
            </a:r>
            <a:br>
              <a:rPr lang="en-US" altLang="en-US" sz="2600" dirty="0"/>
            </a:br>
            <a:r>
              <a:rPr lang="en-US" altLang="en-US" sz="2600" dirty="0"/>
              <a:t>    	var </a:t>
            </a:r>
            <a:r>
              <a:rPr lang="en-US" altLang="en-US" sz="2600" dirty="0" err="1"/>
              <a:t>carName</a:t>
            </a:r>
            <a:r>
              <a:rPr lang="en-US" altLang="en-US" sz="2600" dirty="0"/>
              <a:t> = 'Volvo XC60';   // Using single quotes</a:t>
            </a:r>
          </a:p>
          <a:p>
            <a:r>
              <a:rPr lang="en-US" altLang="en-US" sz="2600" dirty="0"/>
              <a:t>You can use quotes inside a string, as long as they don't match the quotes surrounding the string:</a:t>
            </a:r>
          </a:p>
          <a:p>
            <a:pPr marL="0" indent="0">
              <a:buNone/>
            </a:pPr>
            <a:r>
              <a:rPr lang="en-US" altLang="en-US" sz="2600" dirty="0"/>
              <a:t>   </a:t>
            </a:r>
            <a:r>
              <a:rPr lang="en-US" altLang="en-US" sz="2600" dirty="0">
                <a:solidFill>
                  <a:srgbClr val="FF0000"/>
                </a:solidFill>
              </a:rPr>
              <a:t>Example:</a:t>
            </a:r>
            <a:r>
              <a:rPr lang="en-US" altLang="en-US" sz="2600" dirty="0"/>
              <a:t>  </a:t>
            </a:r>
          </a:p>
          <a:p>
            <a:pPr marL="0" indent="0">
              <a:buNone/>
            </a:pPr>
            <a:r>
              <a:rPr lang="en-US" altLang="en-US" sz="2600" dirty="0"/>
              <a:t>	var answer = "It's alright";    // Single quote inside double quotes</a:t>
            </a:r>
            <a:br>
              <a:rPr lang="en-US" altLang="en-US" sz="2600" dirty="0"/>
            </a:br>
            <a:r>
              <a:rPr lang="en-US" altLang="en-US" sz="2600" dirty="0"/>
              <a:t>	var answer = "He is called 'Johnny'";     // Single quotes inside double quotes</a:t>
            </a:r>
            <a:br>
              <a:rPr lang="en-US" altLang="en-US" sz="2600" dirty="0"/>
            </a:br>
            <a:r>
              <a:rPr lang="en-US" altLang="en-US" sz="2600" dirty="0"/>
              <a:t>	var answer = 'He is called "Johnny"';    // Double quotes inside single quotes</a:t>
            </a:r>
          </a:p>
        </p:txBody>
      </p:sp>
    </p:spTree>
    <p:extLst>
      <p:ext uri="{BB962C8B-B14F-4D97-AF65-F5344CB8AC3E}">
        <p14:creationId xmlns:p14="http://schemas.microsoft.com/office/powerpoint/2010/main" val="38798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JavaScript Data Types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2461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JavaScript has only one type of numbers which  can be written with, or without decimals:</a:t>
            </a:r>
          </a:p>
          <a:p>
            <a:pPr marL="0" indent="0">
              <a:buNone/>
            </a:pPr>
            <a:r>
              <a:rPr lang="en-US" altLang="en-US" sz="2000" dirty="0"/>
              <a:t>    </a:t>
            </a:r>
            <a:r>
              <a:rPr lang="en-US" altLang="en-US" sz="20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000" dirty="0"/>
              <a:t>	var x1 = 34.00;     // Written with decimals</a:t>
            </a:r>
            <a:br>
              <a:rPr lang="en-US" altLang="en-US" sz="2000" dirty="0"/>
            </a:br>
            <a:r>
              <a:rPr lang="en-US" altLang="en-US" sz="2000" dirty="0"/>
              <a:t> 	var x2 = 34;          // Written without decimals</a:t>
            </a:r>
          </a:p>
          <a:p>
            <a:r>
              <a:rPr lang="en-US" altLang="en-US" sz="2000" dirty="0"/>
              <a:t>Extra large or extra small numbers can be written with scientific (exponential) notation:</a:t>
            </a:r>
          </a:p>
          <a:p>
            <a:pPr marL="0" indent="0">
              <a:buNone/>
            </a:pPr>
            <a:r>
              <a:rPr lang="en-US" altLang="en-US" sz="2000" dirty="0"/>
              <a:t>    </a:t>
            </a:r>
            <a:r>
              <a:rPr lang="en-US" altLang="en-US" sz="20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000" dirty="0"/>
              <a:t>	var y = 123e5;      // 12300000</a:t>
            </a:r>
            <a:br>
              <a:rPr lang="en-US" altLang="en-US" sz="2000" dirty="0"/>
            </a:br>
            <a:r>
              <a:rPr lang="en-US" altLang="en-US" sz="2000" dirty="0"/>
              <a:t> 	var z = 123e-5;     // 0.00123</a:t>
            </a:r>
          </a:p>
          <a:p>
            <a:r>
              <a:rPr lang="en-US" altLang="en-US" sz="2000" dirty="0"/>
              <a:t>JavaScript has dynamic types. This means that the same variable can be used as different types:</a:t>
            </a:r>
          </a:p>
          <a:p>
            <a:pPr marL="0" indent="0">
              <a:buNone/>
            </a:pPr>
            <a:r>
              <a:rPr lang="en-US" altLang="en-US" sz="2000" dirty="0"/>
              <a:t>    </a:t>
            </a:r>
            <a:r>
              <a:rPr lang="en-US" altLang="en-US" sz="20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000" dirty="0"/>
              <a:t>	var x;                       // Now x is undefined</a:t>
            </a:r>
            <a:br>
              <a:rPr lang="en-US" altLang="en-US" sz="2000" dirty="0"/>
            </a:br>
            <a:r>
              <a:rPr lang="en-US" altLang="en-US" sz="2000" dirty="0"/>
              <a:t> 	var x = 5;                // Now x is a Number</a:t>
            </a:r>
            <a:br>
              <a:rPr lang="en-US" altLang="en-US" sz="2000" dirty="0"/>
            </a:br>
            <a:r>
              <a:rPr lang="en-US" altLang="en-US" sz="2000" dirty="0"/>
              <a:t> 	var x = "John";      // Now x is a String</a:t>
            </a:r>
          </a:p>
        </p:txBody>
      </p:sp>
    </p:spTree>
    <p:extLst>
      <p:ext uri="{BB962C8B-B14F-4D97-AF65-F5344CB8AC3E}">
        <p14:creationId xmlns:p14="http://schemas.microsoft.com/office/powerpoint/2010/main" val="104185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JavaScript Data Types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600" b="1" dirty="0"/>
              <a:t>JavaScript Booleans </a:t>
            </a:r>
            <a:r>
              <a:rPr lang="en-US" altLang="en-US" sz="2600" dirty="0"/>
              <a:t>have two values: true or false.</a:t>
            </a:r>
          </a:p>
          <a:p>
            <a:pPr marL="0" indent="0">
              <a:buNone/>
            </a:pPr>
            <a:r>
              <a:rPr lang="en-US" altLang="en-US" sz="2600" dirty="0">
                <a:solidFill>
                  <a:srgbClr val="FF0000"/>
                </a:solidFill>
              </a:rPr>
              <a:t>   Example:</a:t>
            </a:r>
          </a:p>
          <a:p>
            <a:pPr marL="0" indent="0">
              <a:buNone/>
            </a:pPr>
            <a:r>
              <a:rPr lang="en-US" altLang="en-US" sz="2600" dirty="0"/>
              <a:t>	var x = true;</a:t>
            </a:r>
            <a:br>
              <a:rPr lang="en-US" altLang="en-US" sz="2600" dirty="0"/>
            </a:br>
            <a:r>
              <a:rPr lang="en-US" altLang="en-US" sz="2600" dirty="0"/>
              <a:t>	var y = false;</a:t>
            </a:r>
          </a:p>
          <a:p>
            <a:pPr lvl="1"/>
            <a:r>
              <a:rPr lang="en-US" altLang="en-US" sz="2600" dirty="0"/>
              <a:t>Booleans are often used in conditional testing.</a:t>
            </a:r>
          </a:p>
          <a:p>
            <a:r>
              <a:rPr lang="en-US" altLang="en-US" sz="2600" b="1" dirty="0"/>
              <a:t>JavaScript Arrays</a:t>
            </a:r>
            <a:r>
              <a:rPr lang="en-US" altLang="en-US" sz="2600" dirty="0"/>
              <a:t> are written with square brackets in which the items are separated by comma;</a:t>
            </a:r>
          </a:p>
          <a:p>
            <a:r>
              <a:rPr lang="en-US" altLang="en-US" sz="2600" dirty="0"/>
              <a:t>The following code declares (creates) an array called cars, containing three items (car names):</a:t>
            </a:r>
          </a:p>
          <a:p>
            <a:pPr marL="0" indent="0">
              <a:buNone/>
            </a:pPr>
            <a:r>
              <a:rPr lang="en-US" altLang="en-US" sz="2600" dirty="0"/>
              <a:t>   </a:t>
            </a:r>
            <a:r>
              <a:rPr lang="en-US" altLang="en-US" sz="26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600" dirty="0"/>
              <a:t>	var cars = ["Saab", "Volvo", "BMW"];</a:t>
            </a:r>
          </a:p>
        </p:txBody>
      </p:sp>
    </p:spTree>
    <p:extLst>
      <p:ext uri="{BB962C8B-B14F-4D97-AF65-F5344CB8AC3E}">
        <p14:creationId xmlns:p14="http://schemas.microsoft.com/office/powerpoint/2010/main" val="248081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JavaScript Data Types (cont...)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2600" b="1" dirty="0"/>
              <a:t>JavaScript Objects </a:t>
            </a:r>
            <a:r>
              <a:rPr lang="en-US" altLang="en-US" sz="2600" dirty="0"/>
              <a:t>are written with curly braces.</a:t>
            </a:r>
          </a:p>
          <a:p>
            <a:r>
              <a:rPr lang="en-US" altLang="en-US" sz="2600" dirty="0"/>
              <a:t>Object properties are written as </a:t>
            </a:r>
            <a:r>
              <a:rPr lang="en-US" altLang="en-US" sz="2600" dirty="0" err="1"/>
              <a:t>name:value</a:t>
            </a:r>
            <a:r>
              <a:rPr lang="en-US" altLang="en-US" sz="2600" dirty="0"/>
              <a:t> pairs, separated by commas.</a:t>
            </a:r>
          </a:p>
          <a:p>
            <a:pPr marL="0" indent="0">
              <a:buNone/>
            </a:pPr>
            <a:r>
              <a:rPr lang="en-US" altLang="en-US" sz="2600" dirty="0"/>
              <a:t>    </a:t>
            </a:r>
            <a:r>
              <a:rPr lang="en-US" altLang="en-US" sz="26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600" dirty="0"/>
              <a:t>	var person = {</a:t>
            </a:r>
            <a:r>
              <a:rPr lang="en-US" altLang="en-US" sz="2600" dirty="0" err="1"/>
              <a:t>firstName</a:t>
            </a:r>
            <a:r>
              <a:rPr lang="en-US" altLang="en-US" sz="2600" dirty="0"/>
              <a:t>:"John", </a:t>
            </a:r>
            <a:r>
              <a:rPr lang="en-US" altLang="en-US" sz="2600" dirty="0" err="1"/>
              <a:t>lastName</a:t>
            </a:r>
            <a:r>
              <a:rPr lang="en-US" altLang="en-US" sz="2600" dirty="0"/>
              <a:t>:"Doe", age:50, </a:t>
            </a:r>
            <a:r>
              <a:rPr lang="en-US" altLang="en-US" sz="2600" dirty="0" err="1"/>
              <a:t>eyeColor</a:t>
            </a:r>
            <a:r>
              <a:rPr lang="en-US" altLang="en-US" sz="2600" dirty="0"/>
              <a:t>:"blue"};</a:t>
            </a:r>
          </a:p>
          <a:p>
            <a:pPr lvl="1"/>
            <a:r>
              <a:rPr lang="en-US" altLang="en-US" sz="2600" dirty="0"/>
              <a:t>The object (person) in the example above has 4 properties: </a:t>
            </a:r>
            <a:r>
              <a:rPr lang="en-US" altLang="en-US" sz="2600" dirty="0" err="1"/>
              <a:t>firstName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lastName</a:t>
            </a:r>
            <a:r>
              <a:rPr lang="en-US" altLang="en-US" sz="2600" dirty="0"/>
              <a:t>, age, and </a:t>
            </a:r>
            <a:r>
              <a:rPr lang="en-US" altLang="en-US" sz="2600" dirty="0" err="1"/>
              <a:t>eyeColor</a:t>
            </a:r>
            <a:r>
              <a:rPr lang="en-US" altLang="en-US" sz="2600" dirty="0"/>
              <a:t>.</a:t>
            </a:r>
          </a:p>
          <a:p>
            <a:endParaRPr lang="en-US" altLang="en-US" sz="2600" dirty="0"/>
          </a:p>
          <a:p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48761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JavaScript Data Types (cont...)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en-US" sz="2600" dirty="0"/>
              <a:t>In JavaScript we can use the JavaScript </a:t>
            </a:r>
            <a:r>
              <a:rPr lang="en-US" altLang="en-US" sz="2600" b="1" dirty="0" err="1"/>
              <a:t>typeof</a:t>
            </a:r>
            <a:r>
              <a:rPr lang="en-US" altLang="en-US" sz="2600" b="1" dirty="0"/>
              <a:t> </a:t>
            </a:r>
            <a:r>
              <a:rPr lang="en-US" altLang="en-US" sz="2600" dirty="0"/>
              <a:t>Operator to find the type of a JavaScript variable:</a:t>
            </a:r>
          </a:p>
          <a:p>
            <a:pPr marL="0" indent="0">
              <a:buNone/>
            </a:pPr>
            <a:r>
              <a:rPr lang="en-US" altLang="en-US" sz="2600" dirty="0"/>
              <a:t>   </a:t>
            </a:r>
            <a:r>
              <a:rPr lang="en-US" altLang="en-US" sz="26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600" dirty="0"/>
              <a:t>	</a:t>
            </a:r>
            <a:r>
              <a:rPr lang="en-US" altLang="en-US" sz="2600" dirty="0" err="1"/>
              <a:t>typeof</a:t>
            </a:r>
            <a:r>
              <a:rPr lang="en-US" altLang="en-US" sz="2600" dirty="0"/>
              <a:t>  "John"                // Returns string </a:t>
            </a:r>
            <a:br>
              <a:rPr lang="en-US" altLang="en-US" sz="2600" dirty="0"/>
            </a:br>
            <a:r>
              <a:rPr lang="en-US" altLang="en-US" sz="2600" dirty="0"/>
              <a:t>	</a:t>
            </a:r>
            <a:r>
              <a:rPr lang="en-US" altLang="en-US" sz="2600" dirty="0" err="1"/>
              <a:t>typeof</a:t>
            </a:r>
            <a:r>
              <a:rPr lang="en-US" altLang="en-US" sz="2600" dirty="0"/>
              <a:t>  3.14                    // Returns number</a:t>
            </a:r>
            <a:br>
              <a:rPr lang="en-US" altLang="en-US" sz="2600" dirty="0"/>
            </a:br>
            <a:r>
              <a:rPr lang="en-US" altLang="en-US" sz="2600" dirty="0"/>
              <a:t>	</a:t>
            </a:r>
            <a:r>
              <a:rPr lang="en-US" altLang="en-US" sz="2600" dirty="0" err="1"/>
              <a:t>typeof</a:t>
            </a:r>
            <a:r>
              <a:rPr lang="en-US" altLang="en-US" sz="2600" dirty="0"/>
              <a:t>  false                   // Returns </a:t>
            </a:r>
            <a:r>
              <a:rPr lang="en-US" altLang="en-US" sz="2600" dirty="0" err="1"/>
              <a:t>boolean</a:t>
            </a:r>
            <a:br>
              <a:rPr lang="en-US" altLang="en-US" sz="2600" dirty="0"/>
            </a:br>
            <a:r>
              <a:rPr lang="en-US" altLang="en-US" sz="2600" dirty="0"/>
              <a:t>	</a:t>
            </a:r>
            <a:r>
              <a:rPr lang="en-US" altLang="en-US" sz="2600" dirty="0" err="1"/>
              <a:t>typeof</a:t>
            </a:r>
            <a:r>
              <a:rPr lang="en-US" altLang="en-US" sz="2600" dirty="0"/>
              <a:t>  [1,2,3,4]            // Returns object</a:t>
            </a:r>
            <a:br>
              <a:rPr lang="en-US" altLang="en-US" sz="2600" dirty="0"/>
            </a:br>
            <a:r>
              <a:rPr lang="en-US" altLang="en-US" sz="2600" dirty="0"/>
              <a:t>	</a:t>
            </a:r>
            <a:r>
              <a:rPr lang="en-US" altLang="en-US" sz="2600" dirty="0" err="1"/>
              <a:t>typeof</a:t>
            </a:r>
            <a:r>
              <a:rPr lang="en-US" altLang="en-US" sz="2600" dirty="0"/>
              <a:t>  {</a:t>
            </a:r>
            <a:r>
              <a:rPr lang="en-US" altLang="en-US" sz="2600" dirty="0" err="1"/>
              <a:t>name:'John</a:t>
            </a:r>
            <a:r>
              <a:rPr lang="en-US" altLang="en-US" sz="2600" dirty="0"/>
              <a:t>', age:34}   // Returns object</a:t>
            </a:r>
          </a:p>
          <a:p>
            <a:r>
              <a:rPr lang="en-US" altLang="en-US" sz="2600" b="1" i="1" dirty="0"/>
              <a:t>In JavaScript, a variable without a value is undefined</a:t>
            </a:r>
            <a:r>
              <a:rPr lang="en-US" altLang="en-US" sz="2600" dirty="0"/>
              <a:t>.</a:t>
            </a:r>
          </a:p>
          <a:p>
            <a:pPr marL="0" indent="0">
              <a:buNone/>
            </a:pPr>
            <a:r>
              <a:rPr lang="en-US" altLang="en-US" sz="2600" dirty="0"/>
              <a:t>   </a:t>
            </a:r>
            <a:r>
              <a:rPr lang="en-US" altLang="en-US" sz="26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altLang="en-US" sz="2600" dirty="0"/>
              <a:t>	var person;  // Value is undefined, </a:t>
            </a:r>
            <a:r>
              <a:rPr lang="en-US" altLang="en-US" sz="2600" dirty="0" err="1"/>
              <a:t>typeof</a:t>
            </a:r>
            <a:r>
              <a:rPr lang="en-US" altLang="en-US" sz="2600" dirty="0"/>
              <a:t> is also undefined</a:t>
            </a:r>
          </a:p>
          <a:p>
            <a:endParaRPr lang="en-US" altLang="en-US" sz="2600" dirty="0"/>
          </a:p>
          <a:p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9621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Operators &amp; Control Statements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851"/>
            <a:ext cx="10515600" cy="4753112"/>
          </a:xfrm>
        </p:spPr>
        <p:txBody>
          <a:bodyPr>
            <a:normAutofit/>
          </a:bodyPr>
          <a:lstStyle/>
          <a:p>
            <a:r>
              <a:rPr lang="en-US" dirty="0">
                <a:latin typeface="Arial Narrow" pitchFamily="-112" charset="0"/>
              </a:rPr>
              <a:t>standard C++/Java operators &amp; control statements are provided in JavaScript</a:t>
            </a:r>
            <a:endParaRPr lang="en-US" altLang="en-US" dirty="0"/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Arithmetic operators </a:t>
            </a:r>
            <a:r>
              <a:rPr lang="en-US" sz="2400" dirty="0">
                <a:latin typeface="Courier New" pitchFamily="-112" charset="0"/>
              </a:rPr>
              <a:t>+, -, *, /, %, ++, --,</a:t>
            </a:r>
            <a:endParaRPr lang="en-US" altLang="en-US" sz="2400" dirty="0"/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Comparison </a:t>
            </a:r>
            <a:r>
              <a:rPr lang="en-US" sz="1400" dirty="0">
                <a:latin typeface="Courier New" pitchFamily="-112" charset="0"/>
              </a:rPr>
              <a:t>==, !=, &lt;, &gt;, &lt;=, &gt;=</a:t>
            </a:r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Logical </a:t>
            </a:r>
            <a:r>
              <a:rPr lang="en-US" sz="1400" dirty="0">
                <a:latin typeface="Courier New" pitchFamily="-112" charset="0"/>
              </a:rPr>
              <a:t>&amp;&amp;, ||, !</a:t>
            </a:r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 Conditional Operators  </a:t>
            </a:r>
            <a:r>
              <a:rPr lang="en-US" sz="1800" dirty="0">
                <a:solidFill>
                  <a:schemeClr val="accent2"/>
                </a:solidFill>
                <a:latin typeface="Arial Narrow" pitchFamily="-112" charset="0"/>
              </a:rPr>
              <a:t>if , if-else, switch while, for, do-while, …</a:t>
            </a:r>
          </a:p>
          <a:p>
            <a:endParaRPr lang="en-US" altLang="en-US" dirty="0"/>
          </a:p>
          <a:p>
            <a:pPr marL="0" indent="0">
              <a:buNone/>
            </a:pPr>
            <a:r>
              <a:rPr lang="en-US" altLang="en-US" sz="2400" dirty="0"/>
              <a:t>      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5884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658"/>
          </a:xfrm>
        </p:spPr>
        <p:txBody>
          <a:bodyPr/>
          <a:lstStyle/>
          <a:p>
            <a:r>
              <a:rPr lang="en-US" altLang="en-US" dirty="0"/>
              <a:t>JavaScript 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01783"/>
            <a:ext cx="5181600" cy="49751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&lt;head&gt;&lt;title&gt;Arithmetic Operator Example&lt;/title&gt;&lt;/head&gt;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"&gt;</a:t>
            </a:r>
          </a:p>
          <a:p>
            <a:pPr marL="457200" lvl="1" indent="0">
              <a:buNone/>
            </a:pPr>
            <a:r>
              <a:rPr lang="en-US" dirty="0" err="1"/>
              <a:t>var</a:t>
            </a:r>
            <a:r>
              <a:rPr lang="en-US" dirty="0"/>
              <a:t> num1=15;</a:t>
            </a:r>
          </a:p>
          <a:p>
            <a:pPr marL="457200" lvl="1" indent="0">
              <a:buNone/>
            </a:pPr>
            <a:r>
              <a:rPr lang="en-US" dirty="0" err="1"/>
              <a:t>var</a:t>
            </a:r>
            <a:r>
              <a:rPr lang="en-US" dirty="0"/>
              <a:t> num2=5;</a:t>
            </a:r>
          </a:p>
          <a:p>
            <a:pPr marL="457200" lvl="1" indent="0">
              <a:buNone/>
            </a:pPr>
            <a:r>
              <a:rPr lang="en-US" dirty="0" err="1"/>
              <a:t>var</a:t>
            </a:r>
            <a:r>
              <a:rPr lang="en-US" dirty="0"/>
              <a:t> sum=num1+num2;</a:t>
            </a:r>
          </a:p>
          <a:p>
            <a:pPr marL="457200" lvl="1" indent="0">
              <a:buNone/>
            </a:pPr>
            <a:r>
              <a:rPr lang="en-US" dirty="0" err="1"/>
              <a:t>var</a:t>
            </a:r>
            <a:r>
              <a:rPr lang="en-US" dirty="0"/>
              <a:t> diff=num1-num2;</a:t>
            </a:r>
          </a:p>
          <a:p>
            <a:pPr marL="457200" lvl="1" indent="0">
              <a:buNone/>
            </a:pPr>
            <a:r>
              <a:rPr lang="en-US" dirty="0" err="1"/>
              <a:t>var</a:t>
            </a:r>
            <a:r>
              <a:rPr lang="en-US" dirty="0"/>
              <a:t> prod=num1*num2;</a:t>
            </a:r>
          </a:p>
          <a:p>
            <a:pPr marL="457200" lvl="1" indent="0">
              <a:buNone/>
            </a:pPr>
            <a:r>
              <a:rPr lang="en-US" dirty="0" err="1"/>
              <a:t>var</a:t>
            </a:r>
            <a:r>
              <a:rPr lang="en-US" dirty="0"/>
              <a:t> quo=num1/num2;</a:t>
            </a:r>
          </a:p>
          <a:p>
            <a:pPr marL="457200" lvl="1" indent="0">
              <a:buNone/>
            </a:pPr>
            <a:r>
              <a:rPr lang="en-US" dirty="0" err="1"/>
              <a:t>var</a:t>
            </a:r>
            <a:r>
              <a:rPr lang="en-US" dirty="0"/>
              <a:t> rem=num1%num2;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("Sum="+sum);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("&lt;/</a:t>
            </a:r>
            <a:r>
              <a:rPr lang="en-US" dirty="0" err="1"/>
              <a:t>br</a:t>
            </a:r>
            <a:r>
              <a:rPr lang="en-US" dirty="0"/>
              <a:t>&gt;");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("difference="+diff);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("&lt;/</a:t>
            </a:r>
            <a:r>
              <a:rPr lang="en-US" dirty="0" err="1"/>
              <a:t>br</a:t>
            </a:r>
            <a:r>
              <a:rPr lang="en-US" dirty="0"/>
              <a:t>&gt;");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("Product="+prod);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("&lt;/</a:t>
            </a:r>
            <a:r>
              <a:rPr lang="en-US" dirty="0" err="1"/>
              <a:t>br</a:t>
            </a:r>
            <a:r>
              <a:rPr lang="en-US" dirty="0"/>
              <a:t>&gt;");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("Quotient="+quo);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("&lt;/</a:t>
            </a:r>
            <a:r>
              <a:rPr lang="en-US" dirty="0" err="1"/>
              <a:t>br</a:t>
            </a:r>
            <a:r>
              <a:rPr lang="en-US" dirty="0"/>
              <a:t>&gt;");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("Remainder="+rem);</a:t>
            </a:r>
          </a:p>
          <a:p>
            <a:pPr marL="457200" lvl="1" indent="0">
              <a:buNone/>
            </a:pPr>
            <a:r>
              <a:rPr lang="en-US" dirty="0" err="1"/>
              <a:t>document.write</a:t>
            </a:r>
            <a:r>
              <a:rPr lang="en-US" dirty="0"/>
              <a:t>("&lt;/</a:t>
            </a:r>
            <a:r>
              <a:rPr lang="en-US" dirty="0" err="1"/>
              <a:t>br</a:t>
            </a:r>
            <a:r>
              <a:rPr lang="en-US" dirty="0"/>
              <a:t>&gt;");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63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1344"/>
          </a:xfrm>
        </p:spPr>
        <p:txBody>
          <a:bodyPr>
            <a:normAutofit fontScale="90000"/>
          </a:bodyPr>
          <a:lstStyle/>
          <a:p>
            <a:r>
              <a:rPr lang="en-US" dirty="0"/>
              <a:t>JavaScript </a:t>
            </a:r>
            <a:r>
              <a:rPr lang="en-US" i="1" dirty="0">
                <a:solidFill>
                  <a:srgbClr val="FF0000"/>
                </a:solidFill>
              </a:rPr>
              <a:t>if..., else if..., else </a:t>
            </a:r>
            <a:r>
              <a:rPr lang="en-US" dirty="0"/>
              <a:t>Statement </a:t>
            </a:r>
            <a:r>
              <a:rPr lang="en-US" altLang="en-US" dirty="0"/>
              <a:t>(cont...)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470"/>
            <a:ext cx="10515600" cy="504049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dirty="0"/>
              <a:t>&lt;html&gt;&lt;body&gt;</a:t>
            </a:r>
          </a:p>
          <a:p>
            <a:pPr marL="0" indent="0">
              <a:buNone/>
            </a:pPr>
            <a:r>
              <a:rPr lang="en-US" altLang="en-US" dirty="0"/>
              <a:t>   &lt;p&gt;This example demonstrates the If statement.&lt;/p&gt;</a:t>
            </a:r>
          </a:p>
          <a:p>
            <a:pPr marL="0" indent="0">
              <a:buNone/>
            </a:pPr>
            <a:r>
              <a:rPr lang="en-US" altLang="en-US" dirty="0"/>
              <a:t>   &lt;script type="text/</a:t>
            </a:r>
            <a:r>
              <a:rPr lang="en-US" altLang="en-US" dirty="0" err="1"/>
              <a:t>javascript</a:t>
            </a:r>
            <a:r>
              <a:rPr lang="en-US" altLang="en-US" dirty="0"/>
              <a:t>"&gt;</a:t>
            </a:r>
          </a:p>
          <a:p>
            <a:pPr marL="0" indent="0">
              <a:buNone/>
            </a:pPr>
            <a:r>
              <a:rPr lang="en-US" altLang="en-US" dirty="0"/>
              <a:t>       </a:t>
            </a:r>
            <a:r>
              <a:rPr lang="en-US" altLang="en-US" dirty="0" err="1"/>
              <a:t>var</a:t>
            </a:r>
            <a:r>
              <a:rPr lang="en-US" altLang="en-US" dirty="0"/>
              <a:t> d = new Date();</a:t>
            </a:r>
          </a:p>
          <a:p>
            <a:pPr marL="0" indent="0">
              <a:buNone/>
            </a:pPr>
            <a:r>
              <a:rPr lang="en-US" altLang="en-US" dirty="0"/>
              <a:t>       </a:t>
            </a:r>
            <a:r>
              <a:rPr lang="en-US" altLang="en-US" dirty="0" err="1"/>
              <a:t>var</a:t>
            </a:r>
            <a:r>
              <a:rPr lang="en-US" altLang="en-US" dirty="0"/>
              <a:t> time = </a:t>
            </a:r>
            <a:r>
              <a:rPr lang="en-US" altLang="en-US" dirty="0" err="1"/>
              <a:t>d.getHours</a:t>
            </a:r>
            <a:r>
              <a:rPr lang="en-US" altLang="en-US" dirty="0"/>
              <a:t>();</a:t>
            </a:r>
          </a:p>
          <a:p>
            <a:pPr marL="0" indent="0">
              <a:buNone/>
            </a:pPr>
            <a:r>
              <a:rPr lang="en-US" altLang="en-US" dirty="0"/>
              <a:t>       if (time &lt; 10) </a:t>
            </a:r>
          </a:p>
          <a:p>
            <a:pPr marL="0" indent="0">
              <a:buNone/>
            </a:pPr>
            <a:r>
              <a:rPr lang="en-US" altLang="en-US" dirty="0"/>
              <a:t>       {</a:t>
            </a:r>
          </a:p>
          <a:p>
            <a:pPr marL="0" indent="0">
              <a:buNone/>
            </a:pPr>
            <a:r>
              <a:rPr lang="en-US" altLang="en-US" dirty="0"/>
              <a:t>           </a:t>
            </a:r>
            <a:r>
              <a:rPr lang="en-US" altLang="en-US" dirty="0" err="1"/>
              <a:t>document.write</a:t>
            </a:r>
            <a:r>
              <a:rPr lang="en-US" altLang="en-US" dirty="0"/>
              <a:t>("&lt;b&gt;Good morning&lt;/b&gt;");</a:t>
            </a:r>
          </a:p>
          <a:p>
            <a:pPr marL="0" indent="0">
              <a:buNone/>
            </a:pPr>
            <a:r>
              <a:rPr lang="en-US" altLang="en-US" dirty="0"/>
              <a:t>       }</a:t>
            </a:r>
          </a:p>
          <a:p>
            <a:pPr marL="0" indent="0">
              <a:buNone/>
            </a:pPr>
            <a:r>
              <a:rPr lang="en-US" altLang="en-US" dirty="0"/>
              <a:t>    &lt;/script&gt;</a:t>
            </a:r>
          </a:p>
          <a:p>
            <a:pPr marL="0" indent="0">
              <a:buNone/>
            </a:pPr>
            <a:r>
              <a:rPr lang="en-US" altLang="en-US" dirty="0"/>
              <a:t>    &lt;p&gt;If the time on your browser is less than 10, you will get  a "Good morning" greeting. &lt;/p&gt;</a:t>
            </a:r>
          </a:p>
          <a:p>
            <a:pPr marL="0" indent="0">
              <a:buNone/>
            </a:pPr>
            <a:r>
              <a:rPr lang="en-US" altLang="en-US" dirty="0"/>
              <a:t>    &lt;/body&gt;</a:t>
            </a:r>
          </a:p>
          <a:p>
            <a:pPr marL="0" indent="0">
              <a:buNone/>
            </a:pPr>
            <a:r>
              <a:rPr lang="en-US" alt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64304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JavaScript </a:t>
            </a:r>
            <a:r>
              <a:rPr lang="en-US" altLang="en-US" i="1" dirty="0">
                <a:solidFill>
                  <a:srgbClr val="FF0000"/>
                </a:solidFill>
              </a:rPr>
              <a:t>if-else</a:t>
            </a:r>
            <a:r>
              <a:rPr lang="en-US" altLang="en-US" dirty="0"/>
              <a:t> Statement 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7446"/>
            <a:ext cx="11034933" cy="517691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en-US" sz="4700" dirty="0">
                <a:solidFill>
                  <a:srgbClr val="FF0000"/>
                </a:solidFill>
              </a:rPr>
              <a:t>Example 1: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&lt;html&gt;&lt;body&gt;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&lt;p&gt;This example demonstrates the If…else statement.&lt;/p&gt;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&lt;script type="text/</a:t>
            </a:r>
            <a:r>
              <a:rPr lang="en-US" altLang="en-US" sz="3600" dirty="0" err="1"/>
              <a:t>javascript</a:t>
            </a:r>
            <a:r>
              <a:rPr lang="en-US" altLang="en-US" sz="3600" dirty="0"/>
              <a:t>"&gt;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    var d = new Date();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    var time = </a:t>
            </a:r>
            <a:r>
              <a:rPr lang="en-US" altLang="en-US" sz="3600" dirty="0" err="1"/>
              <a:t>d.getHours</a:t>
            </a:r>
            <a:r>
              <a:rPr lang="en-US" altLang="en-US" sz="3600" dirty="0"/>
              <a:t>();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    if (time &lt; 10){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        </a:t>
            </a:r>
            <a:r>
              <a:rPr lang="en-US" altLang="en-US" sz="3600" dirty="0" err="1"/>
              <a:t>document.write</a:t>
            </a:r>
            <a:r>
              <a:rPr lang="en-US" altLang="en-US" sz="3600" dirty="0"/>
              <a:t>("&lt;b&gt;Good morning&lt;/b&gt;");}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            else{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        </a:t>
            </a:r>
            <a:r>
              <a:rPr lang="en-US" altLang="en-US" sz="3600" dirty="0" err="1"/>
              <a:t>document.write</a:t>
            </a:r>
            <a:r>
              <a:rPr lang="en-US" altLang="en-US" sz="3600" dirty="0"/>
              <a:t>("&lt;b&gt;Good Afternoon&lt;/b&gt;");}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&lt;/script&gt;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&lt;p&gt;If the time on your browser is less than 10, you will get a "Good morning" greeting.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	Otherwise you will get a "Good Afternoon" greeting&lt;/p&gt;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3600" dirty="0"/>
              <a:t>&lt;/body&gt;&lt;/html&gt;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6339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41037" cy="1325563"/>
          </a:xfrm>
        </p:spPr>
        <p:txBody>
          <a:bodyPr/>
          <a:lstStyle/>
          <a:p>
            <a:r>
              <a:rPr lang="en-US" dirty="0"/>
              <a:t>JavaScript </a:t>
            </a:r>
            <a:r>
              <a:rPr lang="en-US" i="1" dirty="0">
                <a:solidFill>
                  <a:srgbClr val="FF0000"/>
                </a:solidFill>
              </a:rPr>
              <a:t>if..., else if..., else </a:t>
            </a:r>
            <a:r>
              <a:rPr lang="en-US" dirty="0"/>
              <a:t>Statement </a:t>
            </a:r>
            <a:r>
              <a:rPr lang="en-US" altLang="en-US" dirty="0"/>
              <a:t>(cont...)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7446"/>
            <a:ext cx="11034933" cy="517691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en-US" sz="6800" dirty="0">
                <a:solidFill>
                  <a:srgbClr val="FF0000"/>
                </a:solidFill>
              </a:rPr>
              <a:t>Example: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4800" dirty="0"/>
              <a:t>&lt;html&gt;&lt;body&gt;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4800" dirty="0"/>
              <a:t>&lt;script type="text/</a:t>
            </a:r>
            <a:r>
              <a:rPr lang="en-US" altLang="en-US" sz="4800" dirty="0" err="1"/>
              <a:t>javascript</a:t>
            </a:r>
            <a:r>
              <a:rPr lang="en-US" altLang="en-US" sz="4800" dirty="0"/>
              <a:t>"&gt;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var d = new Date();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var time = </a:t>
            </a:r>
            <a:r>
              <a:rPr lang="en-US" altLang="en-US" sz="4800" dirty="0" err="1"/>
              <a:t>d.getHours</a:t>
            </a:r>
            <a:r>
              <a:rPr lang="en-US" altLang="en-US" sz="4800" dirty="0"/>
              <a:t>();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if (time&lt;10)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    </a:t>
            </a:r>
            <a:r>
              <a:rPr lang="en-US" altLang="en-US" sz="4800" dirty="0" err="1"/>
              <a:t>document.write</a:t>
            </a:r>
            <a:r>
              <a:rPr lang="en-US" altLang="en-US" sz="4800" dirty="0"/>
              <a:t>("&lt;b&gt;Good morning&lt;/b&gt;");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else if (time&gt;=10 &amp;&amp; time&lt;16)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    </a:t>
            </a:r>
            <a:r>
              <a:rPr lang="en-US" altLang="en-US" sz="4800" dirty="0" err="1"/>
              <a:t>document.write</a:t>
            </a:r>
            <a:r>
              <a:rPr lang="en-US" altLang="en-US" sz="4800" dirty="0"/>
              <a:t>("&lt;b&gt;Good Afternoon&lt;/b&gt;");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else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4800" dirty="0"/>
              <a:t>    </a:t>
            </a:r>
            <a:r>
              <a:rPr lang="en-US" altLang="en-US" sz="4800" dirty="0" err="1"/>
              <a:t>document.write</a:t>
            </a:r>
            <a:r>
              <a:rPr lang="en-US" altLang="en-US" sz="4800" dirty="0"/>
              <a:t>("&lt;b&gt;Hello World!&lt;/b&gt;");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4800" dirty="0"/>
              <a:t>&lt;/script&gt;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4800" dirty="0"/>
              <a:t>&lt;p&gt;This example demonstrates the </a:t>
            </a:r>
            <a:r>
              <a:rPr lang="en-US" altLang="en-US" sz="4800" dirty="0" err="1"/>
              <a:t>if..else</a:t>
            </a:r>
            <a:r>
              <a:rPr lang="en-US" altLang="en-US" sz="4800" dirty="0"/>
              <a:t> if...else statement.&lt;/p&gt;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4800" dirty="0"/>
              <a:t>&lt;/body&gt;&lt;/html&gt;</a:t>
            </a:r>
          </a:p>
        </p:txBody>
      </p:sp>
    </p:spTree>
    <p:extLst>
      <p:ext uri="{BB962C8B-B14F-4D97-AF65-F5344CB8AC3E}">
        <p14:creationId xmlns:p14="http://schemas.microsoft.com/office/powerpoint/2010/main" val="1084075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7652"/>
          </a:xfrm>
        </p:spPr>
        <p:txBody>
          <a:bodyPr>
            <a:normAutofit fontScale="90000"/>
          </a:bodyPr>
          <a:lstStyle/>
          <a:p>
            <a:r>
              <a:rPr lang="en-US" dirty="0"/>
              <a:t>JavaScript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Loop (cont...)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531"/>
            <a:ext cx="5181600" cy="5027432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Example: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en-US" sz="2200" dirty="0"/>
              <a:t>&lt;html&gt;</a:t>
            </a:r>
          </a:p>
          <a:p>
            <a:pPr marL="457200" lvl="1" indent="0">
              <a:buNone/>
            </a:pPr>
            <a:r>
              <a:rPr lang="en-US" altLang="en-US" sz="2200" dirty="0"/>
              <a:t>&lt;body&gt;</a:t>
            </a:r>
          </a:p>
          <a:p>
            <a:pPr marL="457200" lvl="1" indent="0">
              <a:buNone/>
            </a:pPr>
            <a:r>
              <a:rPr lang="en-US" altLang="en-US" sz="2200" dirty="0"/>
              <a:t>&lt;script type="text/</a:t>
            </a:r>
            <a:r>
              <a:rPr lang="en-US" altLang="en-US" sz="2200" dirty="0" err="1"/>
              <a:t>javascript</a:t>
            </a:r>
            <a:r>
              <a:rPr lang="en-US" altLang="en-US" sz="2200" dirty="0"/>
              <a:t>"&gt;</a:t>
            </a:r>
          </a:p>
          <a:p>
            <a:pPr marL="914400" lvl="2" indent="0">
              <a:buNone/>
            </a:pPr>
            <a:r>
              <a:rPr lang="en-US" altLang="en-US" sz="2200" dirty="0"/>
              <a:t>for (</a:t>
            </a:r>
            <a:r>
              <a:rPr lang="en-US" altLang="en-US" sz="2200" dirty="0" err="1"/>
              <a:t>i</a:t>
            </a:r>
            <a:r>
              <a:rPr lang="en-US" altLang="en-US" sz="2200" dirty="0"/>
              <a:t> = 1;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 &lt;= 6;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++){</a:t>
            </a:r>
          </a:p>
          <a:p>
            <a:pPr marL="914400" lvl="2" indent="0">
              <a:buNone/>
            </a:pPr>
            <a:r>
              <a:rPr lang="en-US" altLang="en-US" sz="2200" dirty="0"/>
              <a:t>    </a:t>
            </a:r>
            <a:r>
              <a:rPr lang="en-US" altLang="en-US" sz="2200" dirty="0" err="1"/>
              <a:t>document.write</a:t>
            </a:r>
            <a:r>
              <a:rPr lang="en-US" altLang="en-US" sz="2200" dirty="0"/>
              <a:t>("&lt;h" +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 + "&gt;This is heading " +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);</a:t>
            </a:r>
          </a:p>
          <a:p>
            <a:pPr marL="914400" lvl="2" indent="0">
              <a:buNone/>
            </a:pPr>
            <a:r>
              <a:rPr lang="en-US" altLang="en-US" sz="2200" dirty="0"/>
              <a:t>    </a:t>
            </a:r>
            <a:r>
              <a:rPr lang="en-US" altLang="en-US" sz="2200" dirty="0" err="1"/>
              <a:t>document.write</a:t>
            </a:r>
            <a:r>
              <a:rPr lang="en-US" altLang="en-US" sz="2200" dirty="0"/>
              <a:t>("&lt;/h" + </a:t>
            </a:r>
            <a:r>
              <a:rPr lang="en-US" altLang="en-US" sz="2200" dirty="0" err="1"/>
              <a:t>i</a:t>
            </a:r>
            <a:r>
              <a:rPr lang="en-US" altLang="en-US" sz="2200" dirty="0"/>
              <a:t> + "&gt;");</a:t>
            </a:r>
          </a:p>
          <a:p>
            <a:pPr marL="914400" lvl="2" indent="0">
              <a:buNone/>
            </a:pPr>
            <a:r>
              <a:rPr lang="en-US" altLang="en-US" sz="2200" dirty="0"/>
              <a:t>}</a:t>
            </a:r>
          </a:p>
          <a:p>
            <a:pPr marL="457200" lvl="1" indent="0">
              <a:buNone/>
            </a:pPr>
            <a:r>
              <a:rPr lang="en-US" altLang="en-US" sz="2200" dirty="0"/>
              <a:t>&lt;/script&gt;</a:t>
            </a:r>
          </a:p>
          <a:p>
            <a:pPr marL="457200" lvl="1" indent="0">
              <a:buNone/>
            </a:pPr>
            <a:r>
              <a:rPr lang="en-US" altLang="en-US" sz="2200" dirty="0"/>
              <a:t>&lt;/body&gt;</a:t>
            </a:r>
          </a:p>
          <a:p>
            <a:pPr marL="457200" lvl="1" indent="0">
              <a:buNone/>
            </a:pPr>
            <a:r>
              <a:rPr lang="en-US" altLang="en-US" sz="2200" dirty="0"/>
              <a:t>&lt;/html&gt;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92778"/>
            <a:ext cx="5181600" cy="518418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Example 2: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dirty="0"/>
              <a:t>&lt;html&gt;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en-US" dirty="0"/>
              <a:t>&lt;body&gt;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en-US" dirty="0"/>
              <a:t>&lt;p id="demo"&gt;&lt;/p&gt;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en-US" dirty="0"/>
              <a:t>&lt;script&gt;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en-US" sz="2400" dirty="0" err="1"/>
              <a:t>var</a:t>
            </a:r>
            <a:r>
              <a:rPr lang="en-US" altLang="en-US" sz="2400" dirty="0"/>
              <a:t> cars = ["BMW", "Volvo", "Saab", "Ford"];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en-US" sz="2400" dirty="0"/>
              <a:t>text = "";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en-US" sz="2400" dirty="0"/>
              <a:t>for (</a:t>
            </a:r>
            <a:r>
              <a:rPr lang="en-US" altLang="en-US" sz="2400" dirty="0" err="1"/>
              <a:t>var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= 0;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&lt; </a:t>
            </a:r>
            <a:r>
              <a:rPr lang="en-US" altLang="en-US" sz="2400" dirty="0" err="1"/>
              <a:t>cars.length</a:t>
            </a:r>
            <a:r>
              <a:rPr lang="en-US" altLang="en-US" sz="2400" dirty="0"/>
              <a:t>;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++) {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en-US" sz="2400" dirty="0"/>
              <a:t>    text += cars[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] + "&lt;</a:t>
            </a:r>
            <a:r>
              <a:rPr lang="en-US" altLang="en-US" sz="2400" dirty="0" err="1"/>
              <a:t>br</a:t>
            </a:r>
            <a:r>
              <a:rPr lang="en-US" altLang="en-US" sz="2400" dirty="0"/>
              <a:t>&gt;";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en-US" sz="2400" dirty="0"/>
              <a:t>}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en-US" sz="2400" dirty="0" err="1"/>
              <a:t>document.write</a:t>
            </a:r>
            <a:r>
              <a:rPr lang="en-US" altLang="en-US" sz="2400" dirty="0"/>
              <a:t>(text);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en-US" dirty="0"/>
              <a:t>&lt;/script&gt;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en-US" dirty="0"/>
              <a:t>&lt;/body&gt;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893119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551"/>
          </a:xfrm>
        </p:spPr>
        <p:txBody>
          <a:bodyPr>
            <a:normAutofit fontScale="90000"/>
          </a:bodyPr>
          <a:lstStyle/>
          <a:p>
            <a:r>
              <a:rPr lang="en-US" dirty="0"/>
              <a:t>JavaScript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Loop (cont...)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36469"/>
            <a:ext cx="5181600" cy="5040494"/>
          </a:xfrm>
        </p:spPr>
        <p:txBody>
          <a:bodyPr>
            <a:normAutofit fontScale="55000" lnSpcReduction="20000"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Example 3: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&lt;html&gt;&lt;body&gt;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&lt;table border="1px"&gt;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</a:t>
            </a:r>
            <a:r>
              <a:rPr lang="en-US" altLang="en-US" sz="2600" dirty="0" err="1"/>
              <a:t>tr</a:t>
            </a:r>
            <a:r>
              <a:rPr lang="en-US" altLang="en-US" sz="2600" dirty="0"/>
              <a:t>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&lt;script&gt;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for(</a:t>
            </a:r>
            <a:r>
              <a:rPr lang="en-US" altLang="en-US" sz="2600" dirty="0" err="1"/>
              <a:t>var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num</a:t>
            </a:r>
            <a:r>
              <a:rPr lang="en-US" altLang="en-US" sz="2600" dirty="0"/>
              <a:t>=1; </a:t>
            </a:r>
            <a:r>
              <a:rPr lang="en-US" altLang="en-US" sz="2600" dirty="0" err="1"/>
              <a:t>num</a:t>
            </a:r>
            <a:r>
              <a:rPr lang="en-US" altLang="en-US" sz="2600" dirty="0"/>
              <a:t>&lt;=5; </a:t>
            </a:r>
            <a:r>
              <a:rPr lang="en-US" altLang="en-US" sz="2600" dirty="0" err="1"/>
              <a:t>num</a:t>
            </a:r>
            <a:r>
              <a:rPr lang="en-US" altLang="en-US" sz="2600" dirty="0"/>
              <a:t>++)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{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    </a:t>
            </a:r>
            <a:r>
              <a:rPr lang="en-US" altLang="en-US" sz="2600" dirty="0" err="1"/>
              <a:t>document.write</a:t>
            </a:r>
            <a:r>
              <a:rPr lang="en-US" altLang="en-US" sz="2600" dirty="0"/>
              <a:t>("&lt;td&gt;"+ </a:t>
            </a:r>
            <a:r>
              <a:rPr lang="en-US" altLang="en-US" sz="2600" dirty="0" err="1"/>
              <a:t>num</a:t>
            </a:r>
            <a:r>
              <a:rPr lang="en-US" altLang="en-US" sz="2600" dirty="0"/>
              <a:t> +"&lt;/td&gt;");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&lt;/script&gt;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&lt;/</a:t>
            </a:r>
            <a:r>
              <a:rPr lang="en-US" altLang="en-US" sz="2600" dirty="0" err="1"/>
              <a:t>tr</a:t>
            </a:r>
            <a:r>
              <a:rPr lang="en-US" altLang="en-US" sz="2600" dirty="0"/>
              <a:t>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&lt;/table&gt;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&lt;/body&gt;&lt;/html&gt;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0274" y="1136469"/>
            <a:ext cx="5893526" cy="5040494"/>
          </a:xfrm>
        </p:spPr>
        <p:txBody>
          <a:bodyPr>
            <a:normAutofit fontScale="55000" lnSpcReduction="20000"/>
          </a:bodyPr>
          <a:lstStyle/>
          <a:p>
            <a:r>
              <a:rPr lang="en-US" altLang="en-US" sz="3400" dirty="0">
                <a:solidFill>
                  <a:srgbClr val="FF0000"/>
                </a:solidFill>
              </a:rPr>
              <a:t>Example 4: </a:t>
            </a:r>
            <a:r>
              <a:rPr lang="en-US" altLang="en-US" sz="3400" dirty="0"/>
              <a:t>(nested </a:t>
            </a:r>
            <a:r>
              <a:rPr lang="en-US" altLang="en-US" sz="3400" i="1" dirty="0">
                <a:solidFill>
                  <a:srgbClr val="FF0000"/>
                </a:solidFill>
              </a:rPr>
              <a:t>for</a:t>
            </a:r>
            <a:r>
              <a:rPr lang="en-US" altLang="en-US" sz="3400" dirty="0"/>
              <a:t>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&lt;html&gt;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&lt;body&gt;&lt;table border="1px"&gt;&lt;</a:t>
            </a:r>
            <a:r>
              <a:rPr lang="en-US" altLang="en-US" sz="2600" dirty="0" err="1"/>
              <a:t>tr</a:t>
            </a:r>
            <a:r>
              <a:rPr lang="en-US" altLang="en-US" sz="2600" dirty="0"/>
              <a:t>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&lt;script&gt;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 err="1"/>
              <a:t>var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rownum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colnum</a:t>
            </a:r>
            <a:r>
              <a:rPr lang="en-US" altLang="en-US" sz="2600" dirty="0"/>
              <a:t>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for(</a:t>
            </a:r>
            <a:r>
              <a:rPr lang="en-US" altLang="en-US" sz="2600" dirty="0" err="1"/>
              <a:t>rownum</a:t>
            </a:r>
            <a:r>
              <a:rPr lang="en-US" altLang="en-US" sz="2600" dirty="0"/>
              <a:t>=1; </a:t>
            </a:r>
            <a:r>
              <a:rPr lang="en-US" altLang="en-US" sz="2600" dirty="0" err="1"/>
              <a:t>rownum</a:t>
            </a:r>
            <a:r>
              <a:rPr lang="en-US" altLang="en-US" sz="2600" dirty="0"/>
              <a:t>&lt;=3; </a:t>
            </a:r>
            <a:r>
              <a:rPr lang="en-US" altLang="en-US" sz="2600" dirty="0" err="1"/>
              <a:t>rownum</a:t>
            </a:r>
            <a:r>
              <a:rPr lang="en-US" altLang="en-US" sz="2600" dirty="0"/>
              <a:t>++)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{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 err="1"/>
              <a:t>document.write</a:t>
            </a:r>
            <a:r>
              <a:rPr lang="en-US" altLang="en-US" sz="2600" dirty="0"/>
              <a:t>("&lt;</a:t>
            </a:r>
            <a:r>
              <a:rPr lang="en-US" altLang="en-US" sz="2600" dirty="0" err="1"/>
              <a:t>tr</a:t>
            </a:r>
            <a:r>
              <a:rPr lang="en-US" altLang="en-US" sz="2600" dirty="0"/>
              <a:t>&gt;");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en-US" sz="2600" dirty="0"/>
              <a:t>for(</a:t>
            </a:r>
            <a:r>
              <a:rPr lang="en-US" altLang="en-US" sz="2600" dirty="0" err="1"/>
              <a:t>colnum</a:t>
            </a:r>
            <a:r>
              <a:rPr lang="en-US" altLang="en-US" sz="2600" dirty="0"/>
              <a:t>=1; </a:t>
            </a:r>
            <a:r>
              <a:rPr lang="en-US" altLang="en-US" sz="2600" dirty="0" err="1"/>
              <a:t>colnum</a:t>
            </a:r>
            <a:r>
              <a:rPr lang="en-US" altLang="en-US" sz="2600" dirty="0"/>
              <a:t>&lt;=4; </a:t>
            </a:r>
            <a:r>
              <a:rPr lang="en-US" altLang="en-US" sz="2600" dirty="0" err="1"/>
              <a:t>colnum</a:t>
            </a:r>
            <a:r>
              <a:rPr lang="en-US" altLang="en-US" sz="2600" dirty="0"/>
              <a:t>++)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en-US" sz="2600" dirty="0"/>
              <a:t>{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en-US" sz="2600" dirty="0"/>
              <a:t> </a:t>
            </a:r>
            <a:r>
              <a:rPr lang="en-US" altLang="en-US" sz="2600" dirty="0" err="1"/>
              <a:t>document.write</a:t>
            </a:r>
            <a:r>
              <a:rPr lang="en-US" altLang="en-US" sz="2600" dirty="0"/>
              <a:t>("&lt;td&gt;"+ </a:t>
            </a:r>
            <a:r>
              <a:rPr lang="en-US" altLang="en-US" sz="2600" dirty="0" err="1"/>
              <a:t>rownum</a:t>
            </a:r>
            <a:r>
              <a:rPr lang="en-US" altLang="en-US" sz="2600" dirty="0"/>
              <a:t> + "," + </a:t>
            </a:r>
            <a:r>
              <a:rPr lang="en-US" altLang="en-US" sz="2600" dirty="0" err="1"/>
              <a:t>colnum</a:t>
            </a:r>
            <a:r>
              <a:rPr lang="en-US" altLang="en-US" sz="2600" dirty="0"/>
              <a:t> +"&lt;/td&gt;");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US" altLang="en-US" sz="2600" dirty="0"/>
              <a:t>}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         </a:t>
            </a:r>
            <a:r>
              <a:rPr lang="en-US" altLang="en-US" sz="2600" dirty="0" err="1"/>
              <a:t>document.write</a:t>
            </a:r>
            <a:r>
              <a:rPr lang="en-US" altLang="en-US" sz="2600" dirty="0"/>
              <a:t>("&lt;/</a:t>
            </a:r>
            <a:r>
              <a:rPr lang="en-US" altLang="en-US" sz="2600" dirty="0" err="1"/>
              <a:t>tr</a:t>
            </a:r>
            <a:r>
              <a:rPr lang="en-US" altLang="en-US" sz="2600" dirty="0"/>
              <a:t>&gt;");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altLang="en-US" sz="2600" dirty="0"/>
              <a:t>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&lt;/script&gt;&lt;/</a:t>
            </a:r>
            <a:r>
              <a:rPr lang="en-US" altLang="en-US" sz="2600" dirty="0" err="1"/>
              <a:t>tr</a:t>
            </a:r>
            <a:r>
              <a:rPr lang="en-US" altLang="en-US" sz="2600" dirty="0"/>
              <a:t>&gt;&lt;/table&gt;&lt;/body&gt;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en-US" sz="2600" dirty="0"/>
              <a:t>&lt;/html&gt;</a:t>
            </a:r>
          </a:p>
          <a:p>
            <a:endParaRPr lang="en-US" dirty="0"/>
          </a:p>
        </p:txBody>
      </p:sp>
      <p:pic>
        <p:nvPicPr>
          <p:cNvPr id="5" name="ስእል 2">
            <a:extLst>
              <a:ext uri="{FF2B5EF4-FFF2-40B4-BE49-F238E27FC236}">
                <a16:creationId xmlns:a16="http://schemas.microsoft.com/office/drawing/2014/main" id="{768FB781-69A3-489C-9F9C-35667AFA6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467721"/>
            <a:ext cx="2166557" cy="810293"/>
          </a:xfrm>
          <a:prstGeom prst="rect">
            <a:avLst/>
          </a:prstGeom>
        </p:spPr>
      </p:pic>
      <p:pic>
        <p:nvPicPr>
          <p:cNvPr id="6" name="ስእል 3">
            <a:extLst>
              <a:ext uri="{FF2B5EF4-FFF2-40B4-BE49-F238E27FC236}">
                <a16:creationId xmlns:a16="http://schemas.microsoft.com/office/drawing/2014/main" id="{C2B5F476-FB05-4137-81A7-BCEDE6D64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576" y="4753768"/>
            <a:ext cx="2552008" cy="183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7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756134"/>
            <a:ext cx="10515600" cy="69296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Cont.…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JavaScript </a:t>
            </a:r>
            <a:r>
              <a:rPr lang="en-US" sz="2400" i="1" dirty="0">
                <a:solidFill>
                  <a:srgbClr val="FF0000"/>
                </a:solidFill>
              </a:rPr>
              <a:t>Switch</a:t>
            </a:r>
            <a:r>
              <a:rPr lang="en-US" sz="2400" dirty="0"/>
              <a:t> Statement</a:t>
            </a:r>
            <a:r>
              <a:rPr lang="en-US" altLang="en-US" sz="2600" dirty="0"/>
              <a:t>.</a:t>
            </a:r>
          </a:p>
          <a:p>
            <a:r>
              <a:rPr lang="en-US" altLang="en-US" sz="2600" dirty="0"/>
              <a:t>JavaScript </a:t>
            </a:r>
            <a:r>
              <a:rPr lang="en-US" altLang="en-US" sz="2400" i="1" dirty="0">
                <a:solidFill>
                  <a:srgbClr val="FF0000"/>
                </a:solidFill>
              </a:rPr>
              <a:t>while</a:t>
            </a:r>
            <a:r>
              <a:rPr lang="en-US" altLang="en-US" sz="2400" dirty="0"/>
              <a:t> Loop </a:t>
            </a:r>
          </a:p>
          <a:p>
            <a:r>
              <a:rPr lang="en-US" altLang="en-US" sz="2600" dirty="0"/>
              <a:t>Java script </a:t>
            </a:r>
            <a:r>
              <a:rPr lang="en-US" altLang="en-US" sz="2400" i="1" dirty="0">
                <a:solidFill>
                  <a:srgbClr val="FF0000"/>
                </a:solidFill>
              </a:rPr>
              <a:t>do while</a:t>
            </a:r>
            <a:r>
              <a:rPr lang="en-US" altLang="en-US" sz="2400" dirty="0"/>
              <a:t> Loop</a:t>
            </a:r>
            <a:endParaRPr lang="en-US" altLang="en-US" sz="2600" dirty="0"/>
          </a:p>
        </p:txBody>
      </p:sp>
      <p:sp>
        <p:nvSpPr>
          <p:cNvPr id="3" name="ቀጤ ጎነ አራት 2">
            <a:extLst>
              <a:ext uri="{FF2B5EF4-FFF2-40B4-BE49-F238E27FC236}">
                <a16:creationId xmlns:a16="http://schemas.microsoft.com/office/drawing/2014/main" id="{E70A3408-FE43-492D-B9B7-BDE6728AA922}"/>
              </a:ext>
            </a:extLst>
          </p:cNvPr>
          <p:cNvSpPr/>
          <p:nvPr/>
        </p:nvSpPr>
        <p:spPr>
          <a:xfrm rot="19771372">
            <a:off x="6202295" y="3441282"/>
            <a:ext cx="35607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Reading Assignment</a:t>
            </a:r>
          </a:p>
        </p:txBody>
      </p:sp>
    </p:spTree>
    <p:extLst>
      <p:ext uri="{BB962C8B-B14F-4D97-AF65-F5344CB8AC3E}">
        <p14:creationId xmlns:p14="http://schemas.microsoft.com/office/powerpoint/2010/main" val="28561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Arrays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64E553-DBCA-4EA5-AC62-AC2BEB51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en-US" sz="2600" dirty="0"/>
              <a:t>JavaScript arrays are used to store multiple values in a single variable(an ordered collection of values referenced by a single variable name). </a:t>
            </a:r>
          </a:p>
          <a:p>
            <a:pPr algn="just"/>
            <a:r>
              <a:rPr lang="en-US" altLang="en-US" sz="2600" dirty="0"/>
              <a:t>Syntax:</a:t>
            </a:r>
          </a:p>
          <a:p>
            <a:pPr marL="457200" lvl="1" indent="0" algn="just">
              <a:buNone/>
            </a:pPr>
            <a:r>
              <a:rPr lang="en-US" altLang="en-US" sz="2200" dirty="0"/>
              <a:t>Us</a:t>
            </a:r>
            <a:r>
              <a:rPr lang="en-US" altLang="en-US" dirty="0"/>
              <a:t>ing the JavaScript new keyword</a:t>
            </a:r>
          </a:p>
          <a:p>
            <a:pPr marL="914400" lvl="2" indent="0" algn="just">
              <a:buNone/>
            </a:pPr>
            <a:r>
              <a:rPr lang="en-US" altLang="en-US" sz="2200" dirty="0"/>
              <a:t>var array-name = new Array(size); </a:t>
            </a:r>
          </a:p>
          <a:p>
            <a:pPr algn="just"/>
            <a:r>
              <a:rPr lang="en-US" altLang="en-US" sz="2600" dirty="0"/>
              <a:t>Size is the number of elements in the array (optional)</a:t>
            </a:r>
          </a:p>
          <a:p>
            <a:r>
              <a:rPr lang="en-US" altLang="en-US" sz="2600" dirty="0"/>
              <a:t>To assign value to array elements, use:</a:t>
            </a:r>
          </a:p>
          <a:p>
            <a:pPr marL="0" indent="0">
              <a:buNone/>
            </a:pPr>
            <a:r>
              <a:rPr lang="en-US" altLang="en-US" sz="2600" dirty="0">
                <a:solidFill>
                  <a:srgbClr val="FF0000"/>
                </a:solidFill>
              </a:rPr>
              <a:t>   array-name[</a:t>
            </a:r>
            <a:r>
              <a:rPr lang="en-US" altLang="en-US" sz="2600" dirty="0" err="1">
                <a:solidFill>
                  <a:srgbClr val="FF0000"/>
                </a:solidFill>
              </a:rPr>
              <a:t>i</a:t>
            </a:r>
            <a:r>
              <a:rPr lang="en-US" altLang="en-US" sz="2600" dirty="0">
                <a:solidFill>
                  <a:srgbClr val="FF0000"/>
                </a:solidFill>
              </a:rPr>
              <a:t>] = value;   </a:t>
            </a:r>
          </a:p>
          <a:p>
            <a:pPr marL="0" indent="0">
              <a:buNone/>
            </a:pPr>
            <a:r>
              <a:rPr lang="en-US" altLang="en-US" sz="2600" dirty="0"/>
              <a:t>   Where </a:t>
            </a:r>
            <a:r>
              <a:rPr lang="en-US" altLang="en-US" sz="2600" dirty="0" err="1">
                <a:solidFill>
                  <a:srgbClr val="FF0000"/>
                </a:solidFill>
              </a:rPr>
              <a:t>i</a:t>
            </a:r>
            <a:r>
              <a:rPr lang="en-US" altLang="en-US" sz="2600" dirty="0"/>
              <a:t> is the index of the array item. The 1</a:t>
            </a:r>
            <a:r>
              <a:rPr lang="en-US" altLang="en-US" sz="2600" baseline="30000" dirty="0"/>
              <a:t>st</a:t>
            </a:r>
            <a:r>
              <a:rPr lang="en-US" altLang="en-US" sz="2600" dirty="0"/>
              <a:t> item has an index value of 0. </a:t>
            </a:r>
          </a:p>
          <a:p>
            <a:pPr marL="0" indent="0" algn="just">
              <a:buNone/>
            </a:pPr>
            <a:r>
              <a:rPr lang="en-US" altLang="en-US" sz="2600" dirty="0"/>
              <a:t>   </a:t>
            </a:r>
            <a:r>
              <a:rPr lang="en-US" altLang="en-US" sz="2600" b="1" i="1" dirty="0"/>
              <a:t>Or</a:t>
            </a:r>
            <a:r>
              <a:rPr lang="en-US" altLang="en-US" sz="2600" dirty="0"/>
              <a:t> </a:t>
            </a:r>
          </a:p>
          <a:p>
            <a:pPr marL="0" indent="0" algn="just">
              <a:buNone/>
            </a:pPr>
            <a:r>
              <a:rPr lang="en-US" altLang="en-US" sz="2600" dirty="0"/>
              <a:t>   Using array literal(easiest and fast way)</a:t>
            </a:r>
          </a:p>
          <a:p>
            <a:pPr lvl="1" algn="just"/>
            <a:r>
              <a:rPr lang="en-US" altLang="en-US" sz="2600" dirty="0"/>
              <a:t>var array-name = [item1, item2, ...]; </a:t>
            </a:r>
          </a:p>
          <a:p>
            <a:pPr algn="just"/>
            <a:endParaRPr lang="en-US" altLang="en-US" sz="2600" dirty="0"/>
          </a:p>
          <a:p>
            <a:pPr algn="just"/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81101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Arrays (cont...)</a:t>
            </a:r>
            <a:endParaRPr lang="en-US" dirty="0"/>
          </a:p>
        </p:txBody>
      </p:sp>
      <p:sp>
        <p:nvSpPr>
          <p:cNvPr id="4" name="ይዘት ቦታ ያዥ 3">
            <a:extLst>
              <a:ext uri="{FF2B5EF4-FFF2-40B4-BE49-F238E27FC236}">
                <a16:creationId xmlns:a16="http://schemas.microsoft.com/office/drawing/2014/main" id="{7D1D12FC-BB71-4BCC-8E42-13CE07F08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05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FF0000"/>
                </a:solidFill>
              </a:rPr>
              <a:t>Example 1: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&lt;html&gt;&lt;head&gt;&lt;title&gt; </a:t>
            </a:r>
            <a:r>
              <a:rPr lang="en-US" sz="2400" dirty="0" err="1"/>
              <a:t>Javascript</a:t>
            </a:r>
            <a:r>
              <a:rPr lang="en-US" sz="2400" dirty="0"/>
              <a:t> array&lt;/title&gt;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&lt;/head&gt;&lt;body&gt;&lt;script&gt;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/>
              <a:t>var fruits= new Array();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/>
              <a:t>fruits[0]="Apple"; fruits[1]="Mango"; fruits[2]="Orange";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 err="1"/>
              <a:t>document.write</a:t>
            </a:r>
            <a:r>
              <a:rPr lang="en-US" dirty="0"/>
              <a:t>("&lt;h3&gt;"+" The fruits I like most:"+"&lt;/h3&gt;");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 err="1"/>
              <a:t>document.write</a:t>
            </a:r>
            <a:r>
              <a:rPr lang="en-US" dirty="0"/>
              <a:t>("&lt;ul&gt;");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/>
              <a:t>for (var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fruits.length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/>
              <a:t>   </a:t>
            </a:r>
            <a:r>
              <a:rPr lang="en-US" dirty="0" err="1"/>
              <a:t>document.write</a:t>
            </a:r>
            <a:r>
              <a:rPr lang="en-US" dirty="0"/>
              <a:t>("&lt;li&gt;"+fruits[</a:t>
            </a:r>
            <a:r>
              <a:rPr lang="en-US" dirty="0" err="1"/>
              <a:t>i</a:t>
            </a:r>
            <a:r>
              <a:rPr lang="en-US" dirty="0"/>
              <a:t>] + "&lt;/li&gt;");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/>
              <a:t>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 err="1"/>
              <a:t>document.write</a:t>
            </a:r>
            <a:r>
              <a:rPr lang="en-US" dirty="0"/>
              <a:t>("&lt;/ul&gt;");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&lt;/script&gt;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&lt;/body&gt;&lt;/html&gt;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171753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EA0A004E-F07F-4298-9946-0B64449A0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Array declaration and assignment within one line</a:t>
            </a:r>
            <a:endParaRPr lang="en-US" sz="4000" dirty="0"/>
          </a:p>
        </p:txBody>
      </p:sp>
      <p:sp>
        <p:nvSpPr>
          <p:cNvPr id="5" name="ይዘት ቦታ ያዥ 4">
            <a:extLst>
              <a:ext uri="{FF2B5EF4-FFF2-40B4-BE49-F238E27FC236}">
                <a16:creationId xmlns:a16="http://schemas.microsoft.com/office/drawing/2014/main" id="{5BD85754-3DCC-455D-8716-18AF5ADEA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4"/>
            <a:ext cx="10515600" cy="48705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100" dirty="0"/>
              <a:t>&lt;body&gt;</a:t>
            </a:r>
          </a:p>
          <a:p>
            <a:pPr marL="0" indent="0" algn="just">
              <a:buNone/>
            </a:pPr>
            <a:r>
              <a:rPr lang="en-US" sz="2100" dirty="0"/>
              <a:t>&lt;script&gt;</a:t>
            </a:r>
          </a:p>
          <a:p>
            <a:pPr marL="457200" lvl="1" indent="0" algn="just">
              <a:buNone/>
            </a:pPr>
            <a:r>
              <a:rPr lang="en-US" sz="2100" dirty="0"/>
              <a:t>var </a:t>
            </a:r>
            <a:r>
              <a:rPr lang="en-US" sz="2100" dirty="0" err="1"/>
              <a:t>MonthTxt</a:t>
            </a:r>
            <a:r>
              <a:rPr lang="en-US" sz="2100" dirty="0"/>
              <a:t> = ["January", "February", "March", "April", "</a:t>
            </a:r>
            <a:r>
              <a:rPr lang="en-US" sz="2100" dirty="0" err="1"/>
              <a:t>May","June</a:t>
            </a:r>
            <a:r>
              <a:rPr lang="en-US" sz="2100" dirty="0"/>
              <a:t>", "July", "August", "September", "October", "November", "December“];</a:t>
            </a:r>
          </a:p>
          <a:p>
            <a:pPr marL="457200" lvl="1" indent="0" algn="just">
              <a:lnSpc>
                <a:spcPct val="100000"/>
              </a:lnSpc>
              <a:buNone/>
            </a:pPr>
            <a:r>
              <a:rPr lang="en-US" sz="2100" dirty="0" err="1"/>
              <a:t>document.write</a:t>
            </a:r>
            <a:r>
              <a:rPr lang="en-US" sz="2100" dirty="0"/>
              <a:t>("&lt;h3&gt;"+" Months of the year are:"+"&lt;/h3&gt;");</a:t>
            </a:r>
          </a:p>
          <a:p>
            <a:pPr marL="457200" lvl="1" indent="0" algn="just">
              <a:lnSpc>
                <a:spcPct val="100000"/>
              </a:lnSpc>
              <a:buNone/>
            </a:pPr>
            <a:r>
              <a:rPr lang="en-US" sz="2100" dirty="0" err="1"/>
              <a:t>document.write</a:t>
            </a:r>
            <a:r>
              <a:rPr lang="en-US" sz="2100" dirty="0"/>
              <a:t>("&lt;ul&gt;");</a:t>
            </a:r>
          </a:p>
          <a:p>
            <a:pPr marL="457200" lvl="1" indent="0" algn="just">
              <a:lnSpc>
                <a:spcPct val="100000"/>
              </a:lnSpc>
              <a:buNone/>
            </a:pPr>
            <a:r>
              <a:rPr lang="en-US" sz="2100" dirty="0"/>
              <a:t>for (var </a:t>
            </a:r>
            <a:r>
              <a:rPr lang="en-US" sz="2100" dirty="0" err="1"/>
              <a:t>i</a:t>
            </a:r>
            <a:r>
              <a:rPr lang="en-US" sz="2100" dirty="0"/>
              <a:t> = 0; </a:t>
            </a:r>
            <a:r>
              <a:rPr lang="en-US" sz="2100" dirty="0" err="1"/>
              <a:t>i</a:t>
            </a:r>
            <a:r>
              <a:rPr lang="en-US" sz="2100" dirty="0"/>
              <a:t> &lt; </a:t>
            </a:r>
            <a:r>
              <a:rPr lang="en-US" sz="2100" dirty="0" err="1"/>
              <a:t>MonthTxt.length</a:t>
            </a:r>
            <a:r>
              <a:rPr lang="en-US" sz="2100" dirty="0"/>
              <a:t>; </a:t>
            </a:r>
            <a:r>
              <a:rPr lang="en-US" sz="2100" dirty="0" err="1"/>
              <a:t>i</a:t>
            </a:r>
            <a:r>
              <a:rPr lang="en-US" sz="2100" dirty="0"/>
              <a:t>++) {</a:t>
            </a:r>
          </a:p>
          <a:p>
            <a:pPr marL="457200" lvl="1" indent="0" algn="just">
              <a:buNone/>
            </a:pPr>
            <a:r>
              <a:rPr lang="en-US" sz="2100" dirty="0"/>
              <a:t>   </a:t>
            </a:r>
            <a:r>
              <a:rPr lang="en-US" sz="2100" dirty="0" err="1"/>
              <a:t>document.write</a:t>
            </a:r>
            <a:r>
              <a:rPr lang="en-US" sz="2100" dirty="0"/>
              <a:t>("&lt;li&gt;"+</a:t>
            </a:r>
            <a:r>
              <a:rPr lang="en-US" sz="2100" dirty="0" err="1"/>
              <a:t>MonthTxt</a:t>
            </a:r>
            <a:r>
              <a:rPr lang="en-US" sz="2100" dirty="0"/>
              <a:t>[</a:t>
            </a:r>
            <a:r>
              <a:rPr lang="en-US" sz="2100" dirty="0" err="1"/>
              <a:t>i</a:t>
            </a:r>
            <a:r>
              <a:rPr lang="en-US" sz="2100" dirty="0"/>
              <a:t>] + "&lt;/li&gt;");</a:t>
            </a:r>
          </a:p>
          <a:p>
            <a:pPr marL="457200" lvl="1" indent="0" algn="just">
              <a:buNone/>
            </a:pPr>
            <a:r>
              <a:rPr lang="en-US" sz="2100" dirty="0"/>
              <a:t>}</a:t>
            </a:r>
          </a:p>
          <a:p>
            <a:pPr marL="457200" lvl="1" indent="0" algn="just">
              <a:lnSpc>
                <a:spcPct val="100000"/>
              </a:lnSpc>
              <a:buNone/>
            </a:pPr>
            <a:r>
              <a:rPr lang="en-US" sz="2100" dirty="0" err="1"/>
              <a:t>document.write</a:t>
            </a:r>
            <a:r>
              <a:rPr lang="en-US" sz="2100" dirty="0"/>
              <a:t>("&lt;/ul&gt;");</a:t>
            </a:r>
          </a:p>
          <a:p>
            <a:pPr marL="0" indent="0" algn="just">
              <a:buNone/>
            </a:pPr>
            <a:r>
              <a:rPr lang="en-US" sz="2100" dirty="0"/>
              <a:t>&lt;/script&gt;</a:t>
            </a:r>
          </a:p>
          <a:p>
            <a:pPr marL="0" indent="0" algn="just">
              <a:buNone/>
            </a:pPr>
            <a:r>
              <a:rPr lang="en-US" sz="2100" dirty="0"/>
              <a:t>&lt;/body&gt;</a:t>
            </a:r>
          </a:p>
          <a:p>
            <a:pPr marL="0" indent="0" algn="just">
              <a:buNone/>
            </a:pPr>
            <a:r>
              <a:rPr lang="en-US" sz="2100" dirty="0"/>
              <a:t>// we can use array() or array[] in array declaration and assignment</a:t>
            </a:r>
          </a:p>
        </p:txBody>
      </p:sp>
    </p:spTree>
    <p:extLst>
      <p:ext uri="{BB962C8B-B14F-4D97-AF65-F5344CB8AC3E}">
        <p14:creationId xmlns:p14="http://schemas.microsoft.com/office/powerpoint/2010/main" val="493277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9236"/>
            <a:ext cx="10515600" cy="5528763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A JavaScript function is a </a:t>
            </a:r>
            <a:r>
              <a:rPr lang="en-US" b="1" dirty="0">
                <a:solidFill>
                  <a:srgbClr val="C00000"/>
                </a:solidFill>
              </a:rPr>
              <a:t>block of code </a:t>
            </a:r>
            <a:r>
              <a:rPr lang="en-US" dirty="0"/>
              <a:t>designed to perform a particular task.</a:t>
            </a:r>
          </a:p>
          <a:p>
            <a:pPr algn="just"/>
            <a:r>
              <a:rPr lang="en-US" dirty="0"/>
              <a:t>A JavaScript function is </a:t>
            </a:r>
            <a:r>
              <a:rPr lang="en-US" b="1" dirty="0">
                <a:solidFill>
                  <a:srgbClr val="C00000"/>
                </a:solidFill>
              </a:rPr>
              <a:t>executed</a:t>
            </a:r>
            <a:r>
              <a:rPr lang="en-US" b="1" dirty="0"/>
              <a:t> </a:t>
            </a:r>
            <a:r>
              <a:rPr lang="en-US" dirty="0"/>
              <a:t>when "</a:t>
            </a:r>
            <a:r>
              <a:rPr lang="en-US" b="1" dirty="0">
                <a:solidFill>
                  <a:srgbClr val="C00000"/>
                </a:solidFill>
              </a:rPr>
              <a:t>something</a:t>
            </a:r>
            <a:r>
              <a:rPr lang="en-US" dirty="0"/>
              <a:t>" </a:t>
            </a:r>
            <a:r>
              <a:rPr lang="en-US" b="1" dirty="0">
                <a:solidFill>
                  <a:srgbClr val="C00000"/>
                </a:solidFill>
              </a:rPr>
              <a:t>invokes</a:t>
            </a:r>
            <a:r>
              <a:rPr lang="en-US" b="1" dirty="0"/>
              <a:t> </a:t>
            </a:r>
            <a:r>
              <a:rPr lang="en-US" dirty="0"/>
              <a:t>it.</a:t>
            </a:r>
          </a:p>
          <a:p>
            <a:pPr algn="just"/>
            <a:r>
              <a:rPr lang="en-US" dirty="0"/>
              <a:t>A JavaScript function is defined with the </a:t>
            </a:r>
            <a:r>
              <a:rPr lang="en-US" b="1" dirty="0">
                <a:solidFill>
                  <a:srgbClr val="C00000"/>
                </a:solidFill>
              </a:rPr>
              <a:t>function</a:t>
            </a:r>
            <a:r>
              <a:rPr lang="en-US" b="1" dirty="0"/>
              <a:t> </a:t>
            </a:r>
            <a:r>
              <a:rPr lang="en-US" dirty="0"/>
              <a:t>keyword, </a:t>
            </a:r>
            <a:r>
              <a:rPr lang="en-US" b="1" dirty="0">
                <a:solidFill>
                  <a:srgbClr val="C00000"/>
                </a:solidFill>
              </a:rPr>
              <a:t>followed by a name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C00000"/>
                </a:solidFill>
              </a:rPr>
              <a:t>followed by parentheses ()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 algn="just"/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parentheses</a:t>
            </a:r>
            <a:r>
              <a:rPr lang="en-US" b="1" dirty="0"/>
              <a:t> </a:t>
            </a:r>
            <a:r>
              <a:rPr lang="en-US" dirty="0"/>
              <a:t>may </a:t>
            </a:r>
            <a:r>
              <a:rPr lang="en-US" b="1" dirty="0">
                <a:solidFill>
                  <a:srgbClr val="C00000"/>
                </a:solidFill>
              </a:rPr>
              <a:t>include parameter </a:t>
            </a:r>
            <a:r>
              <a:rPr lang="en-US" dirty="0"/>
              <a:t>names </a:t>
            </a:r>
            <a:r>
              <a:rPr lang="en-US" b="1" dirty="0">
                <a:solidFill>
                  <a:srgbClr val="C00000"/>
                </a:solidFill>
              </a:rPr>
              <a:t>separated</a:t>
            </a:r>
            <a:r>
              <a:rPr lang="en-US" b="1" dirty="0"/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commas</a:t>
            </a:r>
            <a:r>
              <a:rPr lang="en-US" dirty="0"/>
              <a:t>: (parameter1, parameter2, ...)</a:t>
            </a: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code to be executed</a:t>
            </a:r>
            <a:r>
              <a:rPr lang="en-US" dirty="0"/>
              <a:t>, by the function, is placed inside </a:t>
            </a:r>
            <a:r>
              <a:rPr lang="en-US" b="1" dirty="0">
                <a:solidFill>
                  <a:srgbClr val="C00000"/>
                </a:solidFill>
              </a:rPr>
              <a:t>curly brackets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Example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5298443"/>
            <a:ext cx="3810000" cy="120032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(p1, p2) {</a:t>
            </a:r>
          </a:p>
          <a:p>
            <a:r>
              <a:rPr lang="en-US" dirty="0"/>
              <a:t>	return p1 * p2;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174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pPr algn="just"/>
            <a:r>
              <a:rPr lang="en-US" dirty="0"/>
              <a:t>When JavaScript </a:t>
            </a:r>
            <a:r>
              <a:rPr lang="en-US" b="1" dirty="0">
                <a:solidFill>
                  <a:srgbClr val="C00000"/>
                </a:solidFill>
              </a:rPr>
              <a:t>reaches a return </a:t>
            </a:r>
            <a:r>
              <a:rPr lang="en-US" dirty="0"/>
              <a:t>statement, the function will </a:t>
            </a:r>
            <a:r>
              <a:rPr lang="en-US" b="1" dirty="0">
                <a:solidFill>
                  <a:srgbClr val="C00000"/>
                </a:solidFill>
              </a:rPr>
              <a:t>stop executing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If the function was invoked from a statement, JavaScript will "return" to execute the code after the invoking statement.</a:t>
            </a:r>
          </a:p>
          <a:p>
            <a:pPr algn="just"/>
            <a:r>
              <a:rPr lang="en-US" dirty="0"/>
              <a:t>The code inside the function will execute when "something" invokes (calls) the function:</a:t>
            </a:r>
          </a:p>
          <a:p>
            <a:pPr lvl="1"/>
            <a:r>
              <a:rPr lang="en-US" dirty="0"/>
              <a:t>When an </a:t>
            </a:r>
            <a:r>
              <a:rPr lang="en-US" b="1" dirty="0">
                <a:solidFill>
                  <a:srgbClr val="C00000"/>
                </a:solidFill>
              </a:rPr>
              <a:t>event occurs </a:t>
            </a:r>
            <a:r>
              <a:rPr lang="en-US" dirty="0"/>
              <a:t>(when a user clicks a button)</a:t>
            </a:r>
          </a:p>
          <a:p>
            <a:pPr lvl="1"/>
            <a:r>
              <a:rPr lang="en-US" dirty="0"/>
              <a:t>When it is invoked (</a:t>
            </a:r>
            <a:r>
              <a:rPr lang="en-US" b="1" dirty="0">
                <a:solidFill>
                  <a:srgbClr val="C00000"/>
                </a:solidFill>
              </a:rPr>
              <a:t>called</a:t>
            </a:r>
            <a:r>
              <a:rPr lang="en-US" dirty="0"/>
              <a:t>) from JavaScript code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Automatically</a:t>
            </a:r>
            <a:r>
              <a:rPr lang="en-US" dirty="0"/>
              <a:t> (self invoked)</a:t>
            </a:r>
          </a:p>
        </p:txBody>
      </p:sp>
    </p:spTree>
    <p:extLst>
      <p:ext uri="{BB962C8B-B14F-4D97-AF65-F5344CB8AC3E}">
        <p14:creationId xmlns:p14="http://schemas.microsoft.com/office/powerpoint/2010/main" val="145528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57" y="611822"/>
            <a:ext cx="76733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Placing</a:t>
            </a:r>
            <a:r>
              <a:rPr spc="-3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Function</a:t>
            </a:r>
            <a:r>
              <a:rPr spc="2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spc="-5" dirty="0"/>
              <a:t>HTML</a:t>
            </a:r>
            <a:r>
              <a:rPr spc="-10" dirty="0"/>
              <a:t> </a:t>
            </a:r>
            <a:r>
              <a:rPr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57" y="1793621"/>
            <a:ext cx="10323830" cy="35242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function </a:t>
            </a:r>
            <a:r>
              <a:rPr sz="2800" spc="-5" dirty="0">
                <a:latin typeface="Calibri"/>
                <a:cs typeface="Calibri"/>
              </a:rPr>
              <a:t>definition </a:t>
            </a:r>
            <a:r>
              <a:rPr sz="2800" spc="-10" dirty="0">
                <a:latin typeface="Calibri"/>
                <a:cs typeface="Calibri"/>
              </a:rPr>
              <a:t>must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placed </a:t>
            </a:r>
            <a:r>
              <a:rPr sz="2800" spc="-20" dirty="0">
                <a:latin typeface="Calibri"/>
                <a:cs typeface="Calibri"/>
              </a:rPr>
              <a:t>before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command that </a:t>
            </a:r>
            <a:r>
              <a:rPr sz="2800" spc="-10" dirty="0">
                <a:latin typeface="Calibri"/>
                <a:cs typeface="Calibri"/>
              </a:rPr>
              <a:t>calls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function.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convention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place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function </a:t>
            </a:r>
            <a:r>
              <a:rPr sz="2800" spc="-5" dirty="0">
                <a:latin typeface="Calibri"/>
                <a:cs typeface="Calibri"/>
              </a:rPr>
              <a:t>definitions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 the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&lt;head&gt;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section.</a:t>
            </a:r>
            <a:endParaRPr sz="2800">
              <a:latin typeface="Calibri"/>
              <a:cs typeface="Calibri"/>
            </a:endParaRPr>
          </a:p>
          <a:p>
            <a:pPr marL="241300" marR="1216660" indent="-228600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 function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executed </a:t>
            </a:r>
            <a:r>
              <a:rPr sz="2800" dirty="0">
                <a:latin typeface="Calibri"/>
                <a:cs typeface="Calibri"/>
              </a:rPr>
              <a:t>only when </a:t>
            </a:r>
            <a:r>
              <a:rPr sz="2800" spc="-10" dirty="0">
                <a:latin typeface="Calibri"/>
                <a:cs typeface="Calibri"/>
              </a:rPr>
              <a:t>called by </a:t>
            </a:r>
            <a:r>
              <a:rPr sz="2800" dirty="0">
                <a:latin typeface="Calibri"/>
                <a:cs typeface="Calibri"/>
              </a:rPr>
              <a:t>another </a:t>
            </a:r>
            <a:r>
              <a:rPr sz="2800" spc="-15" dirty="0">
                <a:latin typeface="Calibri"/>
                <a:cs typeface="Calibri"/>
              </a:rPr>
              <a:t>JavaScript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command.</a:t>
            </a:r>
            <a:endParaRPr sz="2800">
              <a:latin typeface="Calibri"/>
              <a:cs typeface="Calibri"/>
            </a:endParaRPr>
          </a:p>
          <a:p>
            <a:pPr marL="241300" marR="48260" indent="-228600">
              <a:lnSpc>
                <a:spcPts val="304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It’s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practice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JavaScript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programmers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 </a:t>
            </a:r>
            <a:r>
              <a:rPr sz="2800" spc="-20" dirty="0">
                <a:latin typeface="Calibri"/>
                <a:cs typeface="Calibri"/>
              </a:rPr>
              <a:t>create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libraries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located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external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126"/>
            <a:ext cx="10805160" cy="692966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Function con…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8010" y="1058092"/>
            <a:ext cx="6257109" cy="51188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  <a:br>
              <a:rPr lang="en-US" dirty="0"/>
            </a:br>
            <a:r>
              <a:rPr lang="en-US" dirty="0"/>
              <a:t>&lt;head&gt;</a:t>
            </a:r>
            <a:br>
              <a:rPr lang="en-US" dirty="0"/>
            </a:br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"&gt;</a:t>
            </a:r>
          </a:p>
          <a:p>
            <a:pPr marL="457200" lvl="1" indent="0">
              <a:buNone/>
            </a:pPr>
            <a:br>
              <a:rPr lang="en-US" dirty="0"/>
            </a:br>
            <a:r>
              <a:rPr lang="en-US" dirty="0"/>
              <a:t>function </a:t>
            </a:r>
            <a:r>
              <a:rPr lang="en-US" dirty="0" err="1"/>
              <a:t>sayHello</a:t>
            </a:r>
            <a:r>
              <a:rPr lang="en-US" dirty="0"/>
              <a:t>() //function definition</a:t>
            </a:r>
            <a:br>
              <a:rPr lang="en-US" dirty="0"/>
            </a:br>
            <a:r>
              <a:rPr lang="en-US" dirty="0"/>
              <a:t>{ </a:t>
            </a:r>
          </a:p>
          <a:p>
            <a:pPr marL="457200" lvl="1" indent="0">
              <a:buNone/>
            </a:pPr>
            <a:r>
              <a:rPr lang="en-US" dirty="0"/>
              <a:t>alert("Hello there!");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  <a:br>
              <a:rPr lang="en-US" dirty="0"/>
            </a:br>
            <a:r>
              <a:rPr lang="en-US" dirty="0"/>
              <a:t>&lt;/head&gt;</a:t>
            </a:r>
            <a:br>
              <a:rPr lang="en-US" dirty="0"/>
            </a:br>
            <a:r>
              <a:rPr lang="en-US" dirty="0"/>
              <a:t>    &lt;body&gt;</a:t>
            </a:r>
            <a:br>
              <a:rPr lang="en-US" dirty="0"/>
            </a:br>
            <a:r>
              <a:rPr lang="en-US" dirty="0"/>
              <a:t>      &lt;p&gt;Click the following button to call the function&lt;/p&gt;</a:t>
            </a:r>
            <a:br>
              <a:rPr lang="en-US" dirty="0"/>
            </a:br>
            <a:r>
              <a:rPr lang="en-US" dirty="0"/>
              <a:t>&lt;form&gt;</a:t>
            </a:r>
            <a:br>
              <a:rPr lang="en-US" dirty="0"/>
            </a:br>
            <a:r>
              <a:rPr lang="en-US" dirty="0"/>
              <a:t>&lt;input type="button" </a:t>
            </a:r>
            <a:r>
              <a:rPr lang="en-US" dirty="0" err="1"/>
              <a:t>onclick</a:t>
            </a:r>
            <a:r>
              <a:rPr lang="en-US" dirty="0"/>
              <a:t>="</a:t>
            </a:r>
            <a:r>
              <a:rPr lang="en-US" dirty="0" err="1"/>
              <a:t>sayHello</a:t>
            </a:r>
            <a:r>
              <a:rPr lang="en-US" dirty="0"/>
              <a:t>()" value="Say</a:t>
            </a:r>
            <a:br>
              <a:rPr lang="en-US" dirty="0"/>
            </a:br>
            <a:r>
              <a:rPr lang="en-US" dirty="0"/>
              <a:t>Hello"&gt; //</a:t>
            </a:r>
            <a:r>
              <a:rPr lang="en-US" dirty="0" err="1"/>
              <a:t>sayhello</a:t>
            </a:r>
            <a:r>
              <a:rPr lang="en-US" dirty="0"/>
              <a:t>() is function calling</a:t>
            </a:r>
            <a:br>
              <a:rPr lang="en-US" dirty="0"/>
            </a:br>
            <a:r>
              <a:rPr lang="en-US" dirty="0"/>
              <a:t>&lt;/form&gt;</a:t>
            </a:r>
            <a:br>
              <a:rPr lang="en-US" dirty="0"/>
            </a:br>
            <a:r>
              <a:rPr lang="en-US" dirty="0"/>
              <a:t>&lt;p&gt;Use different text in alert box and then try...&lt;/p&gt;</a:t>
            </a:r>
            <a:br>
              <a:rPr lang="en-US" dirty="0"/>
            </a:br>
            <a:r>
              <a:rPr lang="en-US" dirty="0"/>
              <a:t>&lt;/body&gt;</a:t>
            </a:r>
            <a:br>
              <a:rPr lang="en-US" dirty="0"/>
            </a:br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243773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401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Function con…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9531"/>
            <a:ext cx="10515600" cy="50274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  <a:br>
              <a:rPr lang="en-US" dirty="0"/>
            </a:br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"&gt;</a:t>
            </a:r>
            <a:br>
              <a:rPr lang="en-US" dirty="0"/>
            </a:br>
            <a:r>
              <a:rPr lang="en-US" dirty="0"/>
              <a:t>function </a:t>
            </a:r>
            <a:r>
              <a:rPr lang="en-US" dirty="0" err="1"/>
              <a:t>sayHello</a:t>
            </a:r>
            <a:r>
              <a:rPr lang="en-US" dirty="0"/>
              <a:t>(name, age)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alert( name + " is " + age + " years old.");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&lt;/script&gt;</a:t>
            </a:r>
            <a:br>
              <a:rPr lang="en-US" dirty="0"/>
            </a:br>
            <a:r>
              <a:rPr lang="en-US" dirty="0"/>
              <a:t>&lt;/head&gt;</a:t>
            </a:r>
            <a:br>
              <a:rPr lang="en-US" dirty="0"/>
            </a:br>
            <a:r>
              <a:rPr lang="en-US" dirty="0"/>
              <a:t>&lt;body&gt;</a:t>
            </a:r>
            <a:br>
              <a:rPr lang="en-US" dirty="0"/>
            </a:br>
            <a:r>
              <a:rPr lang="en-US" dirty="0"/>
              <a:t>&lt;p&gt;Click the following button to call the function&lt;/p&gt;</a:t>
            </a:r>
            <a:br>
              <a:rPr lang="en-US" dirty="0"/>
            </a:br>
            <a:r>
              <a:rPr lang="en-US" dirty="0"/>
              <a:t>&lt;form&gt;</a:t>
            </a:r>
            <a:br>
              <a:rPr lang="en-US" dirty="0"/>
            </a:br>
            <a:r>
              <a:rPr lang="en-US" dirty="0"/>
              <a:t>&lt;input type="button" </a:t>
            </a:r>
            <a:r>
              <a:rPr lang="en-US" dirty="0" err="1"/>
              <a:t>onclick</a:t>
            </a:r>
            <a:r>
              <a:rPr lang="en-US" dirty="0"/>
              <a:t>="</a:t>
            </a:r>
            <a:r>
              <a:rPr lang="en-US" dirty="0" err="1"/>
              <a:t>sayHello</a:t>
            </a:r>
            <a:r>
              <a:rPr lang="en-US" dirty="0"/>
              <a:t>('</a:t>
            </a:r>
            <a:r>
              <a:rPr lang="en-US" dirty="0" err="1"/>
              <a:t>Amanuel</a:t>
            </a:r>
            <a:r>
              <a:rPr lang="en-US" dirty="0"/>
              <a:t> ', 12)" value="Say</a:t>
            </a:r>
            <a:br>
              <a:rPr lang="en-US" dirty="0"/>
            </a:br>
            <a:r>
              <a:rPr lang="en-US" dirty="0"/>
              <a:t>Hello"&gt;</a:t>
            </a:r>
            <a:br>
              <a:rPr lang="en-US" dirty="0"/>
            </a:br>
            <a:r>
              <a:rPr lang="en-US" dirty="0"/>
              <a:t>&lt;/form&gt;</a:t>
            </a:r>
            <a:br>
              <a:rPr lang="en-US" dirty="0"/>
            </a:br>
            <a:r>
              <a:rPr lang="en-US" dirty="0"/>
              <a:t>&lt;p&gt;Use different parameters inside the function and then try...&lt;/p&gt;</a:t>
            </a:r>
            <a:br>
              <a:rPr lang="en-US" dirty="0"/>
            </a:br>
            <a:r>
              <a:rPr lang="en-US" dirty="0"/>
              <a:t>&lt;/body&gt;&lt;/html&gt;</a:t>
            </a:r>
          </a:p>
        </p:txBody>
      </p:sp>
    </p:spTree>
    <p:extLst>
      <p:ext uri="{BB962C8B-B14F-4D97-AF65-F5344CB8AC3E}">
        <p14:creationId xmlns:p14="http://schemas.microsoft.com/office/powerpoint/2010/main" val="29584232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0" y="106364"/>
            <a:ext cx="8763000" cy="809512"/>
          </a:xfrm>
        </p:spPr>
        <p:txBody>
          <a:bodyPr>
            <a:normAutofit/>
          </a:bodyPr>
          <a:lstStyle/>
          <a:p>
            <a:r>
              <a:rPr lang="en-US" dirty="0"/>
              <a:t>Pop up Boxes</a:t>
            </a:r>
            <a:endParaRPr lang="en-IN" dirty="0">
              <a:latin typeface="+mj-lt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43339" y="990600"/>
            <a:ext cx="9934161" cy="5334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Popup boxes can be used to raise an alert, or to get confirmation on any input or to have a kind of input from the users.</a:t>
            </a:r>
          </a:p>
          <a:p>
            <a:pPr algn="just"/>
            <a:r>
              <a:rPr lang="en-US" dirty="0"/>
              <a:t>JavaScript supports </a:t>
            </a:r>
            <a:r>
              <a:rPr lang="en-US" b="1" dirty="0">
                <a:solidFill>
                  <a:srgbClr val="C00000"/>
                </a:solidFill>
              </a:rPr>
              <a:t>three</a:t>
            </a:r>
            <a:r>
              <a:rPr lang="en-US" dirty="0"/>
              <a:t> types of popup boxes. </a:t>
            </a:r>
          </a:p>
          <a:p>
            <a:pPr lvl="1"/>
            <a:r>
              <a:rPr lang="en-US" dirty="0"/>
              <a:t>Alert box</a:t>
            </a:r>
          </a:p>
          <a:p>
            <a:pPr lvl="1"/>
            <a:r>
              <a:rPr lang="en-US" dirty="0"/>
              <a:t>Confirm box</a:t>
            </a:r>
            <a:endParaRPr lang="en-US" sz="2200" dirty="0"/>
          </a:p>
          <a:p>
            <a:pPr lvl="1"/>
            <a:r>
              <a:rPr lang="en-US" dirty="0"/>
              <a:t>Prompt box</a:t>
            </a:r>
          </a:p>
        </p:txBody>
      </p:sp>
    </p:spTree>
    <p:extLst>
      <p:ext uri="{BB962C8B-B14F-4D97-AF65-F5344CB8AC3E}">
        <p14:creationId xmlns:p14="http://schemas.microsoft.com/office/powerpoint/2010/main" val="88872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2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865"/>
            <a:ext cx="10515600" cy="971066"/>
          </a:xfrm>
        </p:spPr>
        <p:txBody>
          <a:bodyPr/>
          <a:lstStyle/>
          <a:p>
            <a:r>
              <a:rPr lang="en-US" dirty="0"/>
              <a:t>Alert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80661"/>
            <a:ext cx="10515600" cy="4776409"/>
          </a:xfrm>
        </p:spPr>
        <p:txBody>
          <a:bodyPr/>
          <a:lstStyle/>
          <a:p>
            <a:pPr algn="just"/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alert box </a:t>
            </a:r>
            <a:r>
              <a:rPr lang="en-US" dirty="0"/>
              <a:t>is used if you want to </a:t>
            </a:r>
            <a:r>
              <a:rPr lang="en-US" b="1" dirty="0">
                <a:solidFill>
                  <a:srgbClr val="C00000"/>
                </a:solidFill>
              </a:rPr>
              <a:t>make sure </a:t>
            </a:r>
            <a:r>
              <a:rPr lang="en-US" dirty="0"/>
              <a:t>information </a:t>
            </a:r>
            <a:r>
              <a:rPr lang="en-US" b="1" dirty="0">
                <a:solidFill>
                  <a:srgbClr val="C00000"/>
                </a:solidFill>
              </a:rPr>
              <a:t>comes through</a:t>
            </a:r>
            <a:r>
              <a:rPr lang="en-US" dirty="0"/>
              <a:t> to the </a:t>
            </a:r>
            <a:r>
              <a:rPr lang="en-US" b="1" dirty="0">
                <a:solidFill>
                  <a:srgbClr val="C00000"/>
                </a:solidFill>
              </a:rPr>
              <a:t>user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When an alert box pops up, the user will </a:t>
            </a:r>
            <a:r>
              <a:rPr lang="en-US" b="1" dirty="0">
                <a:solidFill>
                  <a:srgbClr val="C00000"/>
                </a:solidFill>
              </a:rPr>
              <a:t>have to click "OK" </a:t>
            </a:r>
            <a:r>
              <a:rPr lang="en-US" dirty="0"/>
              <a:t>to proceed.</a:t>
            </a:r>
          </a:p>
          <a:p>
            <a:pPr algn="just"/>
            <a:r>
              <a:rPr lang="en-US" dirty="0"/>
              <a:t>It can be used to display the result of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37680"/>
            <a:ext cx="3810000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 &lt;head&gt;</a:t>
            </a:r>
          </a:p>
          <a:p>
            <a:r>
              <a:rPr lang="en-US" dirty="0"/>
              <a:t>    	&lt;title&gt;Alert Box&lt;/title&gt;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	&lt;script&gt;</a:t>
            </a:r>
          </a:p>
          <a:p>
            <a:r>
              <a:rPr lang="en-US" dirty="0"/>
              <a:t>                            alert("Hello World");</a:t>
            </a:r>
          </a:p>
          <a:p>
            <a:r>
              <a:rPr lang="en-US" dirty="0"/>
              <a:t>	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3581401"/>
            <a:ext cx="43624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771"/>
          </a:xfrm>
        </p:spPr>
        <p:txBody>
          <a:bodyPr>
            <a:normAutofit fontScale="90000"/>
          </a:bodyPr>
          <a:lstStyle/>
          <a:p>
            <a:r>
              <a:rPr lang="en-US" dirty="0"/>
              <a:t>Confirm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6922"/>
            <a:ext cx="10515600" cy="5130041"/>
          </a:xfrm>
        </p:spPr>
        <p:txBody>
          <a:bodyPr/>
          <a:lstStyle/>
          <a:p>
            <a:pPr algn="just">
              <a:buClr>
                <a:schemeClr val="tx1"/>
              </a:buClr>
            </a:pP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confirm box </a:t>
            </a:r>
            <a:r>
              <a:rPr lang="en-US" dirty="0"/>
              <a:t>is used if you want the user to </a:t>
            </a:r>
            <a:r>
              <a:rPr lang="en-US" b="1" dirty="0">
                <a:solidFill>
                  <a:srgbClr val="C00000"/>
                </a:solidFill>
              </a:rPr>
              <a:t>accept something</a:t>
            </a:r>
            <a:r>
              <a:rPr lang="en-US" dirty="0"/>
              <a:t>.</a:t>
            </a:r>
          </a:p>
          <a:p>
            <a:pPr algn="just">
              <a:buClr>
                <a:schemeClr val="tx1"/>
              </a:buClr>
            </a:pPr>
            <a:r>
              <a:rPr lang="en-US" b="1" dirty="0">
                <a:solidFill>
                  <a:srgbClr val="C00000"/>
                </a:solidFill>
              </a:rPr>
              <a:t>When </a:t>
            </a:r>
            <a:r>
              <a:rPr lang="en-US" dirty="0"/>
              <a:t>a confirm box </a:t>
            </a:r>
            <a:r>
              <a:rPr lang="en-US" b="1" dirty="0">
                <a:solidFill>
                  <a:srgbClr val="C00000"/>
                </a:solidFill>
              </a:rPr>
              <a:t>pops up</a:t>
            </a:r>
            <a:r>
              <a:rPr lang="en-US" dirty="0"/>
              <a:t>, the user will have to </a:t>
            </a:r>
            <a:r>
              <a:rPr lang="en-US" b="1" dirty="0">
                <a:solidFill>
                  <a:srgbClr val="C00000"/>
                </a:solidFill>
              </a:rPr>
              <a:t>click</a:t>
            </a:r>
            <a:r>
              <a:rPr lang="en-US" dirty="0"/>
              <a:t> either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 or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 to proceed, If the user clicks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", the box </a:t>
            </a:r>
            <a:r>
              <a:rPr lang="en-US" b="1" dirty="0">
                <a:solidFill>
                  <a:srgbClr val="C00000"/>
                </a:solidFill>
              </a:rPr>
              <a:t>returns true</a:t>
            </a:r>
            <a:r>
              <a:rPr lang="en-US" dirty="0"/>
              <a:t>. If the user clicks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", the box </a:t>
            </a:r>
            <a:r>
              <a:rPr lang="en-US" b="1" dirty="0">
                <a:solidFill>
                  <a:srgbClr val="C00000"/>
                </a:solidFill>
              </a:rPr>
              <a:t>returns false</a:t>
            </a:r>
            <a:r>
              <a:rPr lang="en-US" dirty="0"/>
              <a:t>.</a:t>
            </a:r>
          </a:p>
          <a:p>
            <a:pPr algn="just">
              <a:buClr>
                <a:schemeClr val="tx1"/>
              </a:buClr>
            </a:pPr>
            <a:r>
              <a:rPr lang="en-US" dirty="0"/>
              <a:t>Example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62278"/>
            <a:ext cx="38100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b="1" dirty="0"/>
              <a:t>confirm</a:t>
            </a:r>
            <a:r>
              <a:rPr lang="en-US" dirty="0"/>
              <a:t>(“Are you sure??");</a:t>
            </a:r>
          </a:p>
          <a:p>
            <a:r>
              <a:rPr lang="en-US" dirty="0"/>
              <a:t>   if(a==true) {</a:t>
            </a:r>
          </a:p>
          <a:p>
            <a:r>
              <a:rPr lang="en-US" dirty="0"/>
              <a:t>    	alert(“User Accepted”);</a:t>
            </a:r>
          </a:p>
          <a:p>
            <a:r>
              <a:rPr lang="en-US" dirty="0"/>
              <a:t>   }   </a:t>
            </a:r>
          </a:p>
          <a:p>
            <a:r>
              <a:rPr lang="en-US" dirty="0"/>
              <a:t>   else   {</a:t>
            </a:r>
          </a:p>
          <a:p>
            <a:r>
              <a:rPr lang="en-US" dirty="0"/>
              <a:t>   	alert(“User </a:t>
            </a:r>
            <a:r>
              <a:rPr lang="en-US" dirty="0" err="1"/>
              <a:t>Cancled</a:t>
            </a:r>
            <a:r>
              <a:rPr lang="en-US" dirty="0"/>
              <a:t>”);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&lt;/script&gt;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1" y="3886200"/>
            <a:ext cx="43719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5461"/>
            <a:ext cx="10515600" cy="4891502"/>
          </a:xfrm>
        </p:spPr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prompt box </a:t>
            </a:r>
            <a:r>
              <a:rPr lang="en-US" dirty="0"/>
              <a:t>is used if you want the user to </a:t>
            </a:r>
            <a:r>
              <a:rPr lang="en-US" b="1" dirty="0">
                <a:solidFill>
                  <a:srgbClr val="C00000"/>
                </a:solidFill>
              </a:rPr>
              <a:t>input a value</a:t>
            </a:r>
            <a:r>
              <a:rPr lang="en-US" dirty="0"/>
              <a:t>.</a:t>
            </a:r>
          </a:p>
          <a:p>
            <a:pPr algn="just"/>
            <a:r>
              <a:rPr lang="en-US" b="1" dirty="0">
                <a:solidFill>
                  <a:srgbClr val="C00000"/>
                </a:solidFill>
              </a:rPr>
              <a:t>When</a:t>
            </a:r>
            <a:r>
              <a:rPr lang="en-US" dirty="0"/>
              <a:t> a prompt box </a:t>
            </a:r>
            <a:r>
              <a:rPr lang="en-US" b="1" dirty="0">
                <a:solidFill>
                  <a:srgbClr val="C00000"/>
                </a:solidFill>
              </a:rPr>
              <a:t>pops up</a:t>
            </a:r>
            <a:r>
              <a:rPr lang="en-US" dirty="0"/>
              <a:t>, user have to click either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 or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 to proceed, If the user clicks "</a:t>
            </a:r>
            <a:r>
              <a:rPr lang="en-US" b="1" dirty="0">
                <a:solidFill>
                  <a:srgbClr val="C00000"/>
                </a:solidFill>
              </a:rPr>
              <a:t>OK</a:t>
            </a:r>
            <a:r>
              <a:rPr lang="en-US" dirty="0"/>
              <a:t>" the box </a:t>
            </a:r>
            <a:r>
              <a:rPr lang="en-US" b="1" dirty="0">
                <a:solidFill>
                  <a:srgbClr val="C00000"/>
                </a:solidFill>
              </a:rPr>
              <a:t>returns the input value</a:t>
            </a:r>
            <a:r>
              <a:rPr lang="en-US" dirty="0"/>
              <a:t>, If the user clicks "</a:t>
            </a:r>
            <a:r>
              <a:rPr lang="en-US" b="1" dirty="0">
                <a:solidFill>
                  <a:srgbClr val="C00000"/>
                </a:solidFill>
              </a:rPr>
              <a:t>Cancel</a:t>
            </a:r>
            <a:r>
              <a:rPr lang="en-US" dirty="0"/>
              <a:t>" the box </a:t>
            </a:r>
            <a:r>
              <a:rPr lang="en-US" b="1" dirty="0">
                <a:solidFill>
                  <a:srgbClr val="C00000"/>
                </a:solidFill>
              </a:rPr>
              <a:t>returns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null</a:t>
            </a:r>
            <a:r>
              <a:rPr lang="en-US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1725" y="3731212"/>
            <a:ext cx="430530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504950" y="3909537"/>
            <a:ext cx="3810000" cy="1477328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b="1" dirty="0"/>
              <a:t>prompt</a:t>
            </a:r>
            <a:r>
              <a:rPr lang="en-US" dirty="0"/>
              <a:t>(“Enter Name");</a:t>
            </a:r>
          </a:p>
          <a:p>
            <a:r>
              <a:rPr lang="en-US" dirty="0"/>
              <a:t>   alert(“User Entered ” + a);</a:t>
            </a:r>
          </a:p>
          <a:p>
            <a:r>
              <a:rPr lang="en-US" dirty="0"/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BE5D-B0B6-0F8E-37E6-7CE60F08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519"/>
            <a:ext cx="10515600" cy="509518"/>
          </a:xfrm>
        </p:spPr>
        <p:txBody>
          <a:bodyPr>
            <a:normAutofit fontScale="90000"/>
          </a:bodyPr>
          <a:lstStyle/>
          <a:p>
            <a:r>
              <a:rPr lang="en-US" dirty="0"/>
              <a:t>Prompt con..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B5FE7-B190-6411-1885-AFC3F0D17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4644"/>
            <a:ext cx="10515600" cy="53023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&lt;html&gt;&lt;head&gt;&lt;title&gt;Interactive page&lt;/title&gt;&lt;/head&gt;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 type="text/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("What is your name?", "");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userAge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9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("Your age?", "");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userAge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9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parseFloat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userAge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" +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".")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userAge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18) {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 Do your parents know " +"you are online?");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{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document.write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 Welcome friend!");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 &lt;p&gt;The rest of the page...&lt;/p&gt;&lt;/body&gt;&lt;/html&gt;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40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We can create external JavaScript file and embed it in many html pages.</a:t>
            </a:r>
          </a:p>
          <a:p>
            <a:pPr algn="just"/>
            <a:r>
              <a:rPr lang="en-US" dirty="0"/>
              <a:t>It provides code reusability because single JavaScript file can be used in several html pages.</a:t>
            </a:r>
          </a:p>
          <a:p>
            <a:pPr algn="just"/>
            <a:r>
              <a:rPr lang="en-US" dirty="0"/>
              <a:t>An external JavaScript file must be saved by .</a:t>
            </a:r>
            <a:r>
              <a:rPr lang="en-US" dirty="0" err="1"/>
              <a:t>js</a:t>
            </a:r>
            <a:r>
              <a:rPr lang="en-US" dirty="0"/>
              <a:t> extension.</a:t>
            </a:r>
          </a:p>
          <a:p>
            <a:pPr algn="just"/>
            <a:r>
              <a:rPr lang="en-US" dirty="0"/>
              <a:t>To embed the External JavaScript File to HTML we can use </a:t>
            </a:r>
            <a:r>
              <a:rPr lang="en-US" b="1" i="1" dirty="0">
                <a:solidFill>
                  <a:srgbClr val="C00000"/>
                </a:solidFill>
              </a:rPr>
              <a:t>script</a:t>
            </a:r>
            <a:r>
              <a:rPr lang="en-US" dirty="0"/>
              <a:t> tag with </a:t>
            </a:r>
            <a:r>
              <a:rPr lang="en-US" b="1" i="1" dirty="0" err="1">
                <a:solidFill>
                  <a:srgbClr val="C00000"/>
                </a:solidFill>
              </a:rPr>
              <a:t>src</a:t>
            </a:r>
            <a:r>
              <a:rPr lang="en-US" dirty="0"/>
              <a:t> attribute in the head section to specify the path of JavaScript file.</a:t>
            </a:r>
          </a:p>
          <a:p>
            <a:pPr algn="just"/>
            <a:r>
              <a:rPr lang="en-US" dirty="0"/>
              <a:t>For Example : </a:t>
            </a:r>
          </a:p>
          <a:p>
            <a:pPr lvl="1">
              <a:buNone/>
            </a:pPr>
            <a:r>
              <a:rPr lang="en-US" b="1" dirty="0"/>
              <a:t>&lt;</a:t>
            </a:r>
            <a:r>
              <a:rPr lang="en-US" b="1" dirty="0">
                <a:solidFill>
                  <a:srgbClr val="C00000"/>
                </a:solidFill>
              </a:rPr>
              <a:t>script</a:t>
            </a:r>
            <a:r>
              <a:rPr lang="en-US" dirty="0"/>
              <a:t> type="text/</a:t>
            </a:r>
            <a:r>
              <a:rPr lang="en-US" dirty="0" err="1"/>
              <a:t>javascript</a:t>
            </a:r>
            <a:r>
              <a:rPr lang="en-US" dirty="0"/>
              <a:t>" </a:t>
            </a:r>
            <a:r>
              <a:rPr lang="en-US" b="1" dirty="0" err="1">
                <a:solidFill>
                  <a:srgbClr val="C00000"/>
                </a:solidFill>
              </a:rPr>
              <a:t>src</a:t>
            </a:r>
            <a:r>
              <a:rPr lang="en-US" dirty="0"/>
              <a:t>="message.js"</a:t>
            </a:r>
            <a:r>
              <a:rPr lang="en-US" b="1" dirty="0"/>
              <a:t>&gt;&lt;</a:t>
            </a:r>
            <a:r>
              <a:rPr lang="en-US" b="1" dirty="0">
                <a:solidFill>
                  <a:srgbClr val="C00000"/>
                </a:solidFill>
              </a:rPr>
              <a:t>/script</a:t>
            </a:r>
            <a:r>
              <a:rPr lang="en-US" b="1" dirty="0"/>
              <a:t>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JavaScript (Example)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1066801"/>
            <a:ext cx="8458200" cy="2585323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message.js</a:t>
            </a:r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myAlert</a:t>
            </a:r>
            <a:r>
              <a:rPr lang="en-US" dirty="0"/>
              <a:t>(</a:t>
            </a:r>
            <a:r>
              <a:rPr lang="en-US" dirty="0" err="1"/>
              <a:t>msg</a:t>
            </a:r>
            <a:r>
              <a:rPr lang="en-US" dirty="0"/>
              <a:t>) {</a:t>
            </a:r>
          </a:p>
          <a:p>
            <a:r>
              <a:rPr lang="en-US" dirty="0"/>
              <a:t>	if(confirm("Are you sure you want to display the message????")) {</a:t>
            </a:r>
          </a:p>
          <a:p>
            <a:r>
              <a:rPr lang="en-US" dirty="0"/>
              <a:t>		alert(</a:t>
            </a:r>
            <a:r>
              <a:rPr lang="en-US" dirty="0" err="1"/>
              <a:t>msg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else {</a:t>
            </a:r>
          </a:p>
          <a:p>
            <a:r>
              <a:rPr lang="en-US" dirty="0"/>
              <a:t>		alert("Message not Displayed as User </a:t>
            </a:r>
            <a:r>
              <a:rPr lang="en-US" dirty="0" err="1"/>
              <a:t>Cancled</a:t>
            </a:r>
            <a:r>
              <a:rPr lang="en-US" dirty="0"/>
              <a:t> Operation");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2600" y="3733801"/>
            <a:ext cx="5257800" cy="2585323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myHtml.html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&lt;head&gt;</a:t>
            </a:r>
          </a:p>
          <a:p>
            <a:r>
              <a:rPr lang="en-US" dirty="0"/>
              <a:t>        &lt;script </a:t>
            </a:r>
            <a:r>
              <a:rPr lang="en-US" dirty="0" err="1"/>
              <a:t>src</a:t>
            </a:r>
            <a:r>
              <a:rPr lang="en-US" dirty="0"/>
              <a:t>=“message.js”&gt;&lt;/script&gt;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&lt;script&gt; </a:t>
            </a:r>
            <a:r>
              <a:rPr lang="en-US" dirty="0" err="1"/>
              <a:t>myAlert</a:t>
            </a:r>
            <a:r>
              <a:rPr lang="en-US" dirty="0"/>
              <a:t>(“Hello World”); 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191001"/>
            <a:ext cx="42481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r>
              <a:rPr lang="en-US" dirty="0"/>
              <a:t>An object is just a special kind of data, with </a:t>
            </a:r>
            <a:r>
              <a:rPr lang="en-US" b="1" dirty="0"/>
              <a:t>properties and methods.</a:t>
            </a:r>
          </a:p>
          <a:p>
            <a:r>
              <a:rPr lang="en-US" dirty="0"/>
              <a:t>Accessing Object Properties</a:t>
            </a:r>
          </a:p>
          <a:p>
            <a:pPr lvl="1"/>
            <a:r>
              <a:rPr lang="en-US" b="1" dirty="0"/>
              <a:t>Properties are the values associated with an object.</a:t>
            </a:r>
          </a:p>
          <a:p>
            <a:pPr lvl="1"/>
            <a:r>
              <a:rPr lang="en-US" dirty="0"/>
              <a:t>The syntax for accessing the property of an object is below</a:t>
            </a:r>
          </a:p>
          <a:p>
            <a:pPr lvl="2">
              <a:buNone/>
            </a:pPr>
            <a:r>
              <a:rPr lang="en-US" i="1" dirty="0"/>
              <a:t>	</a:t>
            </a:r>
            <a:r>
              <a:rPr lang="en-US" i="1" dirty="0" err="1"/>
              <a:t>objectName.propertyName</a:t>
            </a:r>
            <a:endParaRPr lang="en-US" i="1" dirty="0"/>
          </a:p>
          <a:p>
            <a:pPr lvl="1"/>
            <a:r>
              <a:rPr lang="en-US" dirty="0"/>
              <a:t>This example uses the length property of the </a:t>
            </a:r>
            <a:r>
              <a:rPr lang="en-US" dirty="0" err="1"/>
              <a:t>Javascript’s</a:t>
            </a:r>
            <a:r>
              <a:rPr lang="en-US" dirty="0"/>
              <a:t> inbuilt object(String) to find the length of a string:</a:t>
            </a:r>
          </a:p>
          <a:p>
            <a:pPr lvl="2" algn="l">
              <a:buNone/>
            </a:pPr>
            <a:r>
              <a:rPr lang="en-US" i="1" dirty="0"/>
              <a:t>	</a:t>
            </a:r>
            <a:r>
              <a:rPr lang="en-US" i="1" dirty="0" err="1"/>
              <a:t>var</a:t>
            </a:r>
            <a:r>
              <a:rPr lang="en-US" i="1" dirty="0"/>
              <a:t> message="Hello World!";</a:t>
            </a:r>
            <a:br>
              <a:rPr lang="en-US" i="1" dirty="0"/>
            </a:br>
            <a:r>
              <a:rPr lang="en-US" i="1" dirty="0" err="1"/>
              <a:t>var</a:t>
            </a:r>
            <a:r>
              <a:rPr lang="en-US" i="1" dirty="0"/>
              <a:t> x=</a:t>
            </a:r>
            <a:r>
              <a:rPr lang="en-US" i="1" dirty="0" err="1"/>
              <a:t>message.length</a:t>
            </a:r>
            <a:r>
              <a:rPr lang="en-US" i="1" dirty="0"/>
              <a:t>;</a:t>
            </a:r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7009"/>
            <a:ext cx="10515600" cy="4599954"/>
          </a:xfrm>
        </p:spPr>
        <p:txBody>
          <a:bodyPr/>
          <a:lstStyle/>
          <a:p>
            <a:r>
              <a:rPr lang="en-US" dirty="0"/>
              <a:t>Accessing Object Methods</a:t>
            </a:r>
          </a:p>
          <a:p>
            <a:pPr lvl="1"/>
            <a:r>
              <a:rPr lang="en-US" dirty="0"/>
              <a:t>Methods are </a:t>
            </a:r>
            <a:r>
              <a:rPr lang="en-US" b="1" dirty="0"/>
              <a:t>the actions that can be performed on objects.</a:t>
            </a:r>
          </a:p>
          <a:p>
            <a:pPr lvl="1" algn="l"/>
            <a:r>
              <a:rPr lang="en-US" dirty="0"/>
              <a:t>You can call a method with the following syntax.</a:t>
            </a:r>
            <a:r>
              <a:rPr lang="en-US" i="1" dirty="0"/>
              <a:t>	</a:t>
            </a:r>
            <a:r>
              <a:rPr lang="en-US" i="1" dirty="0" err="1"/>
              <a:t>objectName.methodName</a:t>
            </a:r>
            <a:r>
              <a:rPr lang="en-US" i="1" dirty="0"/>
              <a:t>()</a:t>
            </a:r>
          </a:p>
          <a:p>
            <a:pPr lvl="1"/>
            <a:r>
              <a:rPr lang="en-US" dirty="0"/>
              <a:t>This example uses the </a:t>
            </a:r>
            <a:r>
              <a:rPr lang="en-US" dirty="0" err="1"/>
              <a:t>toUpperCase</a:t>
            </a:r>
            <a:r>
              <a:rPr lang="en-US" dirty="0"/>
              <a:t> method of the String object to convert string to upper case:</a:t>
            </a:r>
          </a:p>
          <a:p>
            <a:pPr lvl="2" algn="l">
              <a:buNone/>
            </a:pPr>
            <a:r>
              <a:rPr lang="en-US" i="1" dirty="0"/>
              <a:t>	</a:t>
            </a:r>
            <a:r>
              <a:rPr lang="en-US" i="1" dirty="0" err="1"/>
              <a:t>var</a:t>
            </a:r>
            <a:r>
              <a:rPr lang="en-US" i="1" dirty="0"/>
              <a:t> message="Hello World!";</a:t>
            </a:r>
            <a:br>
              <a:rPr lang="en-US" i="1" dirty="0"/>
            </a:br>
            <a:r>
              <a:rPr lang="en-US" i="1" dirty="0" err="1"/>
              <a:t>var</a:t>
            </a:r>
            <a:r>
              <a:rPr lang="en-US" i="1" dirty="0"/>
              <a:t> x=</a:t>
            </a:r>
            <a:r>
              <a:rPr lang="en-US" i="1" dirty="0" err="1"/>
              <a:t>message.toUpperCase</a:t>
            </a:r>
            <a:r>
              <a:rPr lang="en-US" i="1" dirty="0"/>
              <a:t>();</a:t>
            </a:r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JavaScript allows you to create your own objects.</a:t>
            </a:r>
          </a:p>
          <a:p>
            <a:pPr algn="just"/>
            <a:r>
              <a:rPr lang="en-US" dirty="0"/>
              <a:t>The first step is to use the new operator.</a:t>
            </a:r>
          </a:p>
          <a:p>
            <a:pPr lvl="1">
              <a:buNone/>
            </a:pPr>
            <a:r>
              <a:rPr lang="en-US" i="1" dirty="0" err="1"/>
              <a:t>var</a:t>
            </a:r>
            <a:r>
              <a:rPr lang="en-US" i="1" dirty="0"/>
              <a:t> </a:t>
            </a:r>
            <a:r>
              <a:rPr lang="en-US" i="1" dirty="0" err="1"/>
              <a:t>myObj</a:t>
            </a:r>
            <a:r>
              <a:rPr lang="en-US" i="1" dirty="0"/>
              <a:t>= new Object();</a:t>
            </a:r>
            <a:endParaRPr lang="en-US" dirty="0"/>
          </a:p>
          <a:p>
            <a:pPr algn="just"/>
            <a:r>
              <a:rPr lang="en-US" dirty="0"/>
              <a:t>This creates an empty object.</a:t>
            </a:r>
          </a:p>
          <a:p>
            <a:pPr algn="just"/>
            <a:r>
              <a:rPr lang="en-US" dirty="0"/>
              <a:t>This can then be used to start a new object that you can then give new properties and methods.</a:t>
            </a:r>
          </a:p>
          <a:p>
            <a:pPr algn="just"/>
            <a:r>
              <a:rPr lang="en-US" dirty="0"/>
              <a:t>In object- oriented programming such a new object is usually given a constructor to initialize values when it is first created.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- Defined Objects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it is also possible to assign values when it is made with literal values.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49287" y="3003781"/>
            <a:ext cx="84582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US" dirty="0"/>
          </a:p>
          <a:p>
            <a:r>
              <a:rPr lang="en-US" dirty="0"/>
              <a:t> &lt;script&gt;</a:t>
            </a:r>
          </a:p>
          <a:p>
            <a:pPr lvl="1"/>
            <a:r>
              <a:rPr lang="en-US" dirty="0"/>
              <a:t>	person={</a:t>
            </a:r>
          </a:p>
          <a:p>
            <a:r>
              <a:rPr lang="en-US" dirty="0"/>
              <a:t>		</a:t>
            </a:r>
            <a:r>
              <a:rPr lang="en-US" dirty="0" err="1"/>
              <a:t>firstname</a:t>
            </a:r>
            <a:r>
              <a:rPr lang="en-US" dirty="0"/>
              <a:t>: "</a:t>
            </a:r>
            <a:r>
              <a:rPr lang="en-US" dirty="0" err="1"/>
              <a:t>Darshan</a:t>
            </a:r>
            <a:r>
              <a:rPr lang="en-US" dirty="0"/>
              <a:t>",</a:t>
            </a:r>
          </a:p>
          <a:p>
            <a:pPr lvl="2"/>
            <a:r>
              <a:rPr lang="en-US" dirty="0"/>
              <a:t>	</a:t>
            </a:r>
            <a:r>
              <a:rPr lang="en-US" dirty="0" err="1"/>
              <a:t>lastname</a:t>
            </a:r>
            <a:r>
              <a:rPr lang="en-US" dirty="0"/>
              <a:t>: "College",</a:t>
            </a:r>
          </a:p>
          <a:p>
            <a:r>
              <a:rPr lang="en-US" dirty="0"/>
              <a:t>		age: 50,</a:t>
            </a:r>
          </a:p>
          <a:p>
            <a:r>
              <a:rPr lang="en-US" dirty="0"/>
              <a:t>		</a:t>
            </a:r>
            <a:r>
              <a:rPr lang="en-US" dirty="0" err="1"/>
              <a:t>eyecolor</a:t>
            </a:r>
            <a:r>
              <a:rPr lang="en-US" dirty="0"/>
              <a:t>: "blue"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    	alert(</a:t>
            </a:r>
            <a:r>
              <a:rPr lang="en-US" dirty="0" err="1"/>
              <a:t>person.firstname</a:t>
            </a:r>
            <a:r>
              <a:rPr lang="en-US" dirty="0"/>
              <a:t> + " is " + </a:t>
            </a:r>
            <a:r>
              <a:rPr lang="en-US" dirty="0" err="1"/>
              <a:t>person.age</a:t>
            </a:r>
            <a:r>
              <a:rPr lang="en-US" dirty="0"/>
              <a:t> + " years old.");</a:t>
            </a:r>
          </a:p>
          <a:p>
            <a:r>
              <a:rPr lang="en-US" dirty="0"/>
              <a:t>  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User - Defined Objects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0417"/>
            <a:ext cx="10515600" cy="5156546"/>
          </a:xfrm>
        </p:spPr>
        <p:txBody>
          <a:bodyPr/>
          <a:lstStyle/>
          <a:p>
            <a:pPr algn="just"/>
            <a:r>
              <a:rPr lang="en-US" dirty="0"/>
              <a:t>A constructor is pre defined method that will initialize your object.</a:t>
            </a:r>
          </a:p>
          <a:p>
            <a:pPr algn="just"/>
            <a:r>
              <a:rPr lang="en-US" dirty="0"/>
              <a:t>To do this in JavaScript a function is used that is invoked through the </a:t>
            </a:r>
            <a:r>
              <a:rPr lang="en-US" i="1" dirty="0"/>
              <a:t>new</a:t>
            </a:r>
            <a:r>
              <a:rPr lang="en-US" dirty="0"/>
              <a:t> operator.</a:t>
            </a:r>
          </a:p>
          <a:p>
            <a:pPr algn="just"/>
            <a:r>
              <a:rPr lang="en-US" dirty="0"/>
              <a:t>Any properties inside the newly created object are assigned using </a:t>
            </a:r>
            <a:r>
              <a:rPr lang="en-US" b="1" i="1" dirty="0"/>
              <a:t>this</a:t>
            </a:r>
            <a:r>
              <a:rPr lang="en-US" dirty="0"/>
              <a:t> keyword, referring to the current object being created.</a:t>
            </a:r>
          </a:p>
          <a:p>
            <a:pPr algn="just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3276601"/>
            <a:ext cx="8458200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US" dirty="0"/>
          </a:p>
          <a:p>
            <a:r>
              <a:rPr lang="en-US" dirty="0"/>
              <a:t> &lt;script&gt;</a:t>
            </a:r>
          </a:p>
          <a:p>
            <a:r>
              <a:rPr lang="en-US" dirty="0"/>
              <a:t>	function person(</a:t>
            </a:r>
            <a:r>
              <a:rPr lang="en-US" dirty="0" err="1"/>
              <a:t>firstname</a:t>
            </a:r>
            <a:r>
              <a:rPr lang="en-US" dirty="0"/>
              <a:t>, </a:t>
            </a:r>
            <a:r>
              <a:rPr lang="en-US" dirty="0" err="1"/>
              <a:t>lastname</a:t>
            </a:r>
            <a:r>
              <a:rPr lang="en-US" dirty="0"/>
              <a:t>, age){</a:t>
            </a:r>
          </a:p>
          <a:p>
            <a:r>
              <a:rPr lang="en-US" dirty="0"/>
              <a:t>		</a:t>
            </a:r>
            <a:r>
              <a:rPr lang="en-US" dirty="0" err="1"/>
              <a:t>this.firstname</a:t>
            </a:r>
            <a:r>
              <a:rPr lang="en-US" dirty="0"/>
              <a:t> = </a:t>
            </a:r>
            <a:r>
              <a:rPr lang="en-US" dirty="0" err="1"/>
              <a:t>firstname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this.lastname</a:t>
            </a:r>
            <a:r>
              <a:rPr lang="en-US" dirty="0"/>
              <a:t> = </a:t>
            </a:r>
            <a:r>
              <a:rPr lang="en-US" dirty="0" err="1"/>
              <a:t>lastname</a:t>
            </a:r>
            <a:r>
              <a:rPr lang="en-US" dirty="0"/>
              <a:t>;</a:t>
            </a:r>
          </a:p>
          <a:p>
            <a:r>
              <a:rPr lang="en-US" dirty="0"/>
              <a:t>		this. </a:t>
            </a:r>
            <a:r>
              <a:rPr lang="en-US" dirty="0" err="1"/>
              <a:t>changeFirstName</a:t>
            </a:r>
            <a:r>
              <a:rPr lang="en-US" dirty="0"/>
              <a:t> = function (name){ </a:t>
            </a:r>
            <a:r>
              <a:rPr lang="en-US" dirty="0" err="1"/>
              <a:t>this.firstname</a:t>
            </a:r>
            <a:r>
              <a:rPr lang="en-US" dirty="0"/>
              <a:t> = name };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 person1=new person("Narendra","Modi",50);</a:t>
            </a:r>
          </a:p>
          <a:p>
            <a:r>
              <a:rPr lang="en-US" dirty="0"/>
              <a:t>	person1.changeFirstName(“NAMO”);</a:t>
            </a:r>
          </a:p>
          <a:p>
            <a:r>
              <a:rPr lang="en-US" dirty="0"/>
              <a:t>	alert(person1.firstname + “ ”+ person1.lastname);</a:t>
            </a:r>
          </a:p>
          <a:p>
            <a:r>
              <a:rPr lang="en-US" dirty="0"/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6510"/>
          </a:xfrm>
        </p:spPr>
        <p:txBody>
          <a:bodyPr>
            <a:normAutofit fontScale="90000"/>
          </a:bodyPr>
          <a:lstStyle/>
          <a:p>
            <a:r>
              <a:rPr lang="en-US" dirty="0"/>
              <a:t>Document Object Model (DOM)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574" y="990600"/>
            <a:ext cx="10026926" cy="5486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Document Object Model is a platform and language neutral interface that will allow programs and scripts to dynamically access and update the content, structure and style of documents.</a:t>
            </a: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window</a:t>
            </a:r>
            <a:r>
              <a:rPr lang="en-US" b="1" dirty="0"/>
              <a:t> </a:t>
            </a:r>
            <a:r>
              <a:rPr lang="en-US" dirty="0"/>
              <a:t>object is the primary point from which most other objects come.</a:t>
            </a:r>
          </a:p>
          <a:p>
            <a:pPr algn="just"/>
            <a:r>
              <a:rPr lang="en-US" dirty="0"/>
              <a:t>From the current window object </a:t>
            </a:r>
            <a:r>
              <a:rPr lang="en-US" b="1" dirty="0">
                <a:solidFill>
                  <a:srgbClr val="C00000"/>
                </a:solidFill>
              </a:rPr>
              <a:t>access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control</a:t>
            </a:r>
            <a:r>
              <a:rPr lang="en-US" dirty="0"/>
              <a:t> can be given to most aspects of the </a:t>
            </a:r>
            <a:r>
              <a:rPr lang="en-US" b="1" dirty="0">
                <a:solidFill>
                  <a:srgbClr val="C00000"/>
                </a:solidFill>
              </a:rPr>
              <a:t>browser features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HTML document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When we write :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document.write</a:t>
            </a:r>
            <a:r>
              <a:rPr lang="en-US" dirty="0"/>
              <a:t>(“Hello World”);</a:t>
            </a:r>
          </a:p>
          <a:p>
            <a:pPr algn="just"/>
            <a:r>
              <a:rPr lang="en-US" dirty="0"/>
              <a:t>We are actually writing :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window.document.write</a:t>
            </a:r>
            <a:r>
              <a:rPr lang="en-US" dirty="0"/>
              <a:t>(“Hello World”);</a:t>
            </a:r>
          </a:p>
          <a:p>
            <a:pPr lvl="1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window</a:t>
            </a:r>
            <a:r>
              <a:rPr lang="en-US" b="1" dirty="0"/>
              <a:t> </a:t>
            </a:r>
            <a:r>
              <a:rPr lang="en-US" dirty="0"/>
              <a:t>is just there by default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(Cont)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5948"/>
            <a:ext cx="10515600" cy="4971015"/>
          </a:xfrm>
        </p:spPr>
        <p:txBody>
          <a:bodyPr/>
          <a:lstStyle/>
          <a:p>
            <a:pPr algn="just"/>
            <a:r>
              <a:rPr lang="en-US" dirty="0"/>
              <a:t>This </a:t>
            </a:r>
            <a:r>
              <a:rPr lang="en-US" b="1" dirty="0"/>
              <a:t>window</a:t>
            </a:r>
            <a:r>
              <a:rPr lang="en-US" dirty="0"/>
              <a:t> object represents the window or frame that displays the document and is the global object in client side programming for JavaScript.</a:t>
            </a:r>
          </a:p>
          <a:p>
            <a:pPr algn="just"/>
            <a:r>
              <a:rPr lang="en-US" dirty="0"/>
              <a:t>All the client side objects are connected to the window object.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400" y="3048000"/>
            <a:ext cx="1143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window</a:t>
            </a:r>
          </a:p>
        </p:txBody>
      </p:sp>
      <p:grpSp>
        <p:nvGrpSpPr>
          <p:cNvPr id="13" name="Group 31"/>
          <p:cNvGrpSpPr/>
          <p:nvPr/>
        </p:nvGrpSpPr>
        <p:grpSpPr>
          <a:xfrm>
            <a:off x="1905000" y="3962402"/>
            <a:ext cx="1219200" cy="1904998"/>
            <a:chOff x="381000" y="3962402"/>
            <a:chExt cx="1219200" cy="1904998"/>
          </a:xfrm>
        </p:grpSpPr>
        <p:sp>
          <p:nvSpPr>
            <p:cNvPr id="5" name="Rectangle 4"/>
            <p:cNvSpPr/>
            <p:nvPr/>
          </p:nvSpPr>
          <p:spPr>
            <a:xfrm>
              <a:off x="381000" y="4648200"/>
              <a:ext cx="1219200" cy="121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self,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parent,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window,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top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16200000" flipH="1">
              <a:off x="646907" y="4304507"/>
              <a:ext cx="68579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32"/>
          <p:cNvGrpSpPr/>
          <p:nvPr/>
        </p:nvGrpSpPr>
        <p:grpSpPr>
          <a:xfrm>
            <a:off x="3200400" y="3962402"/>
            <a:ext cx="1143000" cy="1142998"/>
            <a:chOff x="1676400" y="3962402"/>
            <a:chExt cx="1143000" cy="1142998"/>
          </a:xfrm>
        </p:grpSpPr>
        <p:sp>
          <p:nvSpPr>
            <p:cNvPr id="6" name="Rectangle 5"/>
            <p:cNvSpPr/>
            <p:nvPr/>
          </p:nvSpPr>
          <p:spPr>
            <a:xfrm>
              <a:off x="16764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frames[]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rot="16200000" flipH="1">
              <a:off x="1867695" y="4304507"/>
              <a:ext cx="68579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33"/>
          <p:cNvGrpSpPr/>
          <p:nvPr/>
        </p:nvGrpSpPr>
        <p:grpSpPr>
          <a:xfrm>
            <a:off x="4419600" y="3962402"/>
            <a:ext cx="1143000" cy="1142999"/>
            <a:chOff x="2895600" y="3962401"/>
            <a:chExt cx="1143000" cy="1142999"/>
          </a:xfrm>
        </p:grpSpPr>
        <p:sp>
          <p:nvSpPr>
            <p:cNvPr id="7" name="Rectangle 6"/>
            <p:cNvSpPr/>
            <p:nvPr/>
          </p:nvSpPr>
          <p:spPr>
            <a:xfrm>
              <a:off x="28956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navigator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rot="16200000" flipH="1">
              <a:off x="3086895" y="4304506"/>
              <a:ext cx="68579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34"/>
          <p:cNvGrpSpPr/>
          <p:nvPr/>
        </p:nvGrpSpPr>
        <p:grpSpPr>
          <a:xfrm>
            <a:off x="5638800" y="3962402"/>
            <a:ext cx="1143000" cy="1142998"/>
            <a:chOff x="4114800" y="3962402"/>
            <a:chExt cx="1143000" cy="1142998"/>
          </a:xfrm>
        </p:grpSpPr>
        <p:sp>
          <p:nvSpPr>
            <p:cNvPr id="8" name="Rectangle 7"/>
            <p:cNvSpPr/>
            <p:nvPr/>
          </p:nvSpPr>
          <p:spPr>
            <a:xfrm>
              <a:off x="41148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location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rot="16200000" flipH="1">
              <a:off x="4302919" y="4304507"/>
              <a:ext cx="68579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35"/>
          <p:cNvGrpSpPr/>
          <p:nvPr/>
        </p:nvGrpSpPr>
        <p:grpSpPr>
          <a:xfrm>
            <a:off x="6858000" y="3962402"/>
            <a:ext cx="1066800" cy="1142998"/>
            <a:chOff x="5334000" y="3962402"/>
            <a:chExt cx="1066800" cy="1142998"/>
          </a:xfrm>
        </p:grpSpPr>
        <p:sp>
          <p:nvSpPr>
            <p:cNvPr id="9" name="Rectangle 8"/>
            <p:cNvSpPr/>
            <p:nvPr/>
          </p:nvSpPr>
          <p:spPr>
            <a:xfrm>
              <a:off x="5334000" y="4648200"/>
              <a:ext cx="10668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history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rot="16200000" flipH="1">
              <a:off x="5523707" y="4304507"/>
              <a:ext cx="68579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36"/>
          <p:cNvGrpSpPr/>
          <p:nvPr/>
        </p:nvGrpSpPr>
        <p:grpSpPr>
          <a:xfrm>
            <a:off x="8001000" y="3962402"/>
            <a:ext cx="1143000" cy="1142999"/>
            <a:chOff x="6477000" y="3962401"/>
            <a:chExt cx="1143000" cy="1142999"/>
          </a:xfrm>
        </p:grpSpPr>
        <p:sp>
          <p:nvSpPr>
            <p:cNvPr id="10" name="Rectangle 9"/>
            <p:cNvSpPr/>
            <p:nvPr/>
          </p:nvSpPr>
          <p:spPr>
            <a:xfrm>
              <a:off x="6477000" y="4648200"/>
              <a:ext cx="1143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document</a:t>
              </a: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rot="16200000" flipH="1">
              <a:off x="6742907" y="4304506"/>
              <a:ext cx="68579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37"/>
          <p:cNvGrpSpPr/>
          <p:nvPr/>
        </p:nvGrpSpPr>
        <p:grpSpPr>
          <a:xfrm>
            <a:off x="9220200" y="3962402"/>
            <a:ext cx="914400" cy="1142999"/>
            <a:chOff x="7696200" y="3962401"/>
            <a:chExt cx="914400" cy="1142999"/>
          </a:xfrm>
        </p:grpSpPr>
        <p:sp>
          <p:nvSpPr>
            <p:cNvPr id="11" name="Rectangle 10"/>
            <p:cNvSpPr/>
            <p:nvPr/>
          </p:nvSpPr>
          <p:spPr>
            <a:xfrm>
              <a:off x="7696200" y="4648200"/>
              <a:ext cx="914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screen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rot="16200000" flipH="1">
              <a:off x="7809707" y="4304506"/>
              <a:ext cx="685798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30"/>
          <p:cNvGrpSpPr/>
          <p:nvPr/>
        </p:nvGrpSpPr>
        <p:grpSpPr>
          <a:xfrm>
            <a:off x="2514600" y="3505200"/>
            <a:ext cx="7162800" cy="458788"/>
            <a:chOff x="990600" y="3505200"/>
            <a:chExt cx="7162800" cy="458788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>
              <a:off x="3543300" y="3733006"/>
              <a:ext cx="457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990600" y="3962400"/>
              <a:ext cx="7162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Properties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256074"/>
              </p:ext>
            </p:extLst>
          </p:nvPr>
        </p:nvGraphicFramePr>
        <p:xfrm>
          <a:off x="1133061" y="1453046"/>
          <a:ext cx="8077200" cy="492175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05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Property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Description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anchors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anchors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applets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applets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body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body element of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cookie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Returns all name/value pairs of cookies in the document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6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domain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domain name of the server that loaded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forms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forms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images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a collection of all the images in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links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 collection of all the links in the document (CSSs)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referrer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URL of the document that loaded the current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1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title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Sets or returns the title of the document</a:t>
                      </a:r>
                      <a:endParaRPr lang="en-US" sz="200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URL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the full URL of the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Methods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961532"/>
              </p:ext>
            </p:extLst>
          </p:nvPr>
        </p:nvGraphicFramePr>
        <p:xfrm>
          <a:off x="1981200" y="1479550"/>
          <a:ext cx="8077200" cy="488975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Method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Description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write()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Writes HTML expressions or JavaScript code to a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writeln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Same as write(), but adds a newline character after each statement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open()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Opens an output stream to collect the output from </a:t>
                      </a:r>
                      <a:r>
                        <a:rPr lang="en-US" sz="2000" dirty="0" err="1"/>
                        <a:t>document.write</a:t>
                      </a:r>
                      <a:r>
                        <a:rPr lang="en-US" sz="2000" dirty="0"/>
                        <a:t>() or </a:t>
                      </a:r>
                      <a:r>
                        <a:rPr lang="en-US" sz="2000" dirty="0" err="1"/>
                        <a:t>document.writeln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close()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Closes the output stream previously opened with </a:t>
                      </a:r>
                      <a:r>
                        <a:rPr lang="en-US" sz="2000" dirty="0" err="1"/>
                        <a:t>document.open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getElementById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Accesses element with a specified id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getElementsByName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Accesses all elements with a specified name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getElementsByTagName</a:t>
                      </a:r>
                      <a:r>
                        <a:rPr lang="en-US" sz="2000" dirty="0"/>
                        <a:t>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Accesses all elements with a specified tag name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Calibri"/>
                          <a:ea typeface="Calibri"/>
                          <a:cs typeface="Shruti"/>
                        </a:rPr>
                        <a:t>setTimeout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Shruti"/>
                        </a:rPr>
                        <a:t>(),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Calibri"/>
                          <a:ea typeface="Calibri"/>
                          <a:cs typeface="Shruti"/>
                        </a:rPr>
                        <a:t>clearTimeout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Shruti"/>
                        </a:rPr>
                        <a:t>()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Shruti"/>
                        </a:rPr>
                        <a:t>Set a time period for calling</a:t>
                      </a:r>
                      <a:r>
                        <a:rPr lang="en-US" sz="2000" baseline="0" dirty="0">
                          <a:latin typeface="Calibri"/>
                          <a:ea typeface="Calibri"/>
                          <a:cs typeface="Shruti"/>
                        </a:rPr>
                        <a:t> a function once; or cancel it.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903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getElementById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4158"/>
            <a:ext cx="10515600" cy="5222805"/>
          </a:xfrm>
        </p:spPr>
        <p:txBody>
          <a:bodyPr/>
          <a:lstStyle/>
          <a:p>
            <a:pPr algn="just"/>
            <a:r>
              <a:rPr lang="en-US" dirty="0"/>
              <a:t>When we suppose to get the reference of the element from HTML in JavaScript using id specified in the HTML we can use this method.</a:t>
            </a:r>
          </a:p>
          <a:p>
            <a:pPr algn="just"/>
            <a:r>
              <a:rPr lang="en-US" dirty="0"/>
              <a:t>Example 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133600"/>
            <a:ext cx="3810000" cy="1754326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&lt;input type=“text” id=“</a:t>
            </a:r>
            <a:r>
              <a:rPr lang="en-US" dirty="0" err="1"/>
              <a:t>myText</a:t>
            </a:r>
            <a:r>
              <a:rPr lang="en-US" dirty="0"/>
              <a:t>”&gt;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600" y="4038600"/>
            <a:ext cx="7620000" cy="230832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JavaScript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 function </a:t>
            </a:r>
            <a:r>
              <a:rPr lang="en-US" dirty="0" err="1"/>
              <a:t>myFunction</a:t>
            </a:r>
            <a:r>
              <a:rPr lang="en-US" dirty="0"/>
              <a:t>()</a:t>
            </a:r>
          </a:p>
          <a:p>
            <a:r>
              <a:rPr lang="en-US" dirty="0"/>
              <a:t>    {</a:t>
            </a:r>
          </a:p>
          <a:p>
            <a:r>
              <a:rPr lang="en-IN" dirty="0"/>
              <a:t>       </a:t>
            </a:r>
            <a:r>
              <a:rPr lang="en-IN" dirty="0" err="1"/>
              <a:t>var</a:t>
            </a:r>
            <a:r>
              <a:rPr lang="en-IN" dirty="0"/>
              <a:t> txt = </a:t>
            </a:r>
            <a:r>
              <a:rPr lang="en-US" dirty="0" err="1"/>
              <a:t>document.</a:t>
            </a:r>
            <a:r>
              <a:rPr lang="en-US" b="1" dirty="0" err="1"/>
              <a:t>getElementById</a:t>
            </a:r>
            <a:r>
              <a:rPr lang="en-US" dirty="0"/>
              <a:t>(“</a:t>
            </a:r>
            <a:r>
              <a:rPr lang="en-US" dirty="0" err="1"/>
              <a:t>myText</a:t>
            </a:r>
            <a:r>
              <a:rPr lang="en-US" dirty="0"/>
              <a:t>”);</a:t>
            </a:r>
          </a:p>
          <a:p>
            <a:r>
              <a:rPr lang="en-US" dirty="0"/>
              <a:t>       alert(</a:t>
            </a:r>
            <a:r>
              <a:rPr lang="en-US" dirty="0" err="1"/>
              <a:t>txt</a:t>
            </a:r>
            <a:r>
              <a:rPr lang="en-US" b="1" dirty="0" err="1"/>
              <a:t>.value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getElementsByName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we suppose to get the reference of the elements from HTML in JavaScript using name specified in the HTML we can use this method.</a:t>
            </a:r>
          </a:p>
          <a:p>
            <a:pPr algn="just"/>
            <a:r>
              <a:rPr lang="en-US" dirty="0"/>
              <a:t>It will return the array of elements with the provided name.</a:t>
            </a:r>
          </a:p>
          <a:p>
            <a:pPr algn="just"/>
            <a:r>
              <a:rPr lang="en-US" dirty="0"/>
              <a:t>Example 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3733801"/>
            <a:ext cx="3276600" cy="2031325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  &lt;input type=“text”          	name=“</a:t>
            </a:r>
            <a:r>
              <a:rPr lang="en-US" dirty="0" err="1"/>
              <a:t>myText</a:t>
            </a:r>
            <a:r>
              <a:rPr lang="en-US" dirty="0"/>
              <a:t>”&gt;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3657600"/>
            <a:ext cx="4876800" cy="230832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JavaScript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a=</a:t>
            </a:r>
            <a:r>
              <a:rPr lang="en-US" dirty="0" err="1"/>
              <a:t>document.getElementsByName</a:t>
            </a:r>
            <a:r>
              <a:rPr lang="en-US" dirty="0"/>
              <a:t>(“</a:t>
            </a:r>
            <a:r>
              <a:rPr lang="en-US" dirty="0" err="1"/>
              <a:t>myText</a:t>
            </a:r>
            <a:r>
              <a:rPr lang="en-US" dirty="0"/>
              <a:t>”)[0];</a:t>
            </a:r>
          </a:p>
          <a:p>
            <a:r>
              <a:rPr lang="en-US" dirty="0"/>
              <a:t>   alert(</a:t>
            </a:r>
            <a:r>
              <a:rPr lang="en-US" dirty="0" err="1"/>
              <a:t>a.value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using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access the elements of form in DOM quite easily using the name/id of the form.</a:t>
            </a:r>
          </a:p>
          <a:p>
            <a:r>
              <a:rPr lang="en-US" dirty="0"/>
              <a:t>Example :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3452191"/>
            <a:ext cx="41148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  &lt;form name=“</a:t>
            </a:r>
            <a:r>
              <a:rPr lang="en-US" dirty="0" err="1"/>
              <a:t>myForm</a:t>
            </a:r>
            <a:r>
              <a:rPr lang="en-US" dirty="0"/>
              <a:t>”&gt;</a:t>
            </a:r>
          </a:p>
          <a:p>
            <a:r>
              <a:rPr lang="en-US" dirty="0"/>
              <a:t>        &lt;input type=“text” name=“</a:t>
            </a:r>
            <a:r>
              <a:rPr lang="en-US" dirty="0" err="1"/>
              <a:t>uname</a:t>
            </a:r>
            <a:r>
              <a:rPr lang="en-US" dirty="0"/>
              <a:t>”&gt;</a:t>
            </a:r>
          </a:p>
          <a:p>
            <a:r>
              <a:rPr lang="en-US" dirty="0"/>
              <a:t>        &lt;input type=“text” name=“</a:t>
            </a:r>
            <a:r>
              <a:rPr lang="en-US" dirty="0" err="1"/>
              <a:t>pword</a:t>
            </a:r>
            <a:r>
              <a:rPr lang="en-US" dirty="0"/>
              <a:t>”&gt;</a:t>
            </a:r>
          </a:p>
          <a:p>
            <a:r>
              <a:rPr lang="en-US" dirty="0"/>
              <a:t>        &lt;input type=“button” </a:t>
            </a:r>
            <a:r>
              <a:rPr lang="en-US" dirty="0" err="1"/>
              <a:t>onClick</a:t>
            </a:r>
            <a:r>
              <a:rPr lang="en-US" dirty="0"/>
              <a:t>=“f()”&gt;</a:t>
            </a:r>
          </a:p>
          <a:p>
            <a:r>
              <a:rPr lang="en-US" dirty="0"/>
              <a:t>     &lt;/form&gt;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6087" y="2507975"/>
            <a:ext cx="4114800" cy="4247317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JS</a:t>
            </a:r>
            <a:endParaRPr lang="en-US" dirty="0"/>
          </a:p>
          <a:p>
            <a:r>
              <a:rPr lang="en-US" dirty="0"/>
              <a:t>function f()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dirty="0" err="1"/>
              <a:t>document.forms</a:t>
            </a:r>
            <a:r>
              <a:rPr lang="en-US" dirty="0"/>
              <a:t>[“</a:t>
            </a:r>
            <a:r>
              <a:rPr lang="en-US" dirty="0" err="1"/>
              <a:t>myForm</a:t>
            </a:r>
            <a:r>
              <a:rPr lang="en-US" dirty="0"/>
              <a:t>”];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u = </a:t>
            </a:r>
            <a:r>
              <a:rPr lang="en-US" dirty="0" err="1"/>
              <a:t>a.uname.value</a:t>
            </a:r>
            <a:r>
              <a:rPr lang="en-US" dirty="0"/>
              <a:t>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p = </a:t>
            </a:r>
            <a:r>
              <a:rPr lang="en-US" dirty="0" err="1"/>
              <a:t>a.pword.value</a:t>
            </a:r>
            <a:r>
              <a:rPr lang="en-US" dirty="0"/>
              <a:t>;</a:t>
            </a:r>
          </a:p>
          <a:p>
            <a:r>
              <a:rPr lang="en-US" dirty="0"/>
              <a:t>   if(u==“admin” &amp;&amp; p==“123”)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alert(“valid”);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else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 alert(“Invalid”);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57" y="611822"/>
            <a:ext cx="3419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Data</a:t>
            </a:r>
            <a:r>
              <a:rPr spc="-65" dirty="0"/>
              <a:t> </a:t>
            </a:r>
            <a:r>
              <a:rPr spc="-30"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57" y="1769450"/>
            <a:ext cx="10008235" cy="40360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JavaScript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client-side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validation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r>
              <a:rPr sz="2400" spc="-10" dirty="0">
                <a:latin typeface="Calibri"/>
                <a:cs typeface="Calibri"/>
              </a:rPr>
              <a:t> entered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HTML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forms.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libri"/>
                <a:cs typeface="Calibri"/>
              </a:rPr>
              <a:t>Data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entered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extracted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accessed.</a:t>
            </a:r>
            <a:endParaRPr sz="2200">
              <a:latin typeface="Calibri"/>
              <a:cs typeface="Calibri"/>
            </a:endParaRPr>
          </a:p>
          <a:p>
            <a:pPr marL="697865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Checks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made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entered.</a:t>
            </a:r>
            <a:endParaRPr sz="2200">
              <a:latin typeface="Calibri"/>
              <a:cs typeface="Calibri"/>
            </a:endParaRPr>
          </a:p>
          <a:p>
            <a:pPr marL="1155065" lvl="2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Non-alphabetic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characters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name.</a:t>
            </a:r>
            <a:endParaRPr sz="2000">
              <a:latin typeface="Calibri"/>
              <a:cs typeface="Calibri"/>
            </a:endParaRPr>
          </a:p>
          <a:p>
            <a:pPr marL="1155065" lvl="2" indent="-22923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Non-numeric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characters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roll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number,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age,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1155065" lvl="2" indent="-22923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alibri"/>
                <a:cs typeface="Calibri"/>
              </a:rPr>
              <a:t>Bid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amount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permissible.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10" dirty="0">
                <a:latin typeface="Calibri"/>
                <a:cs typeface="Calibri"/>
              </a:rPr>
              <a:t> validation example: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student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registration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form.</a:t>
            </a:r>
            <a:endParaRPr sz="2200">
              <a:latin typeface="Calibri"/>
              <a:cs typeface="Calibri"/>
            </a:endParaRPr>
          </a:p>
          <a:p>
            <a:pPr marL="697865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checks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whether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roll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7-digit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numeric value.</a:t>
            </a:r>
            <a:endParaRPr sz="2200">
              <a:latin typeface="Calibri"/>
              <a:cs typeface="Calibri"/>
            </a:endParaRPr>
          </a:p>
          <a:p>
            <a:pPr marL="1155065" lvl="2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spc="-20" dirty="0">
                <a:latin typeface="Calibri"/>
                <a:cs typeface="Calibri"/>
              </a:rPr>
              <a:t>Invoked </a:t>
            </a:r>
            <a:r>
              <a:rPr sz="2000" spc="-5" dirty="0">
                <a:latin typeface="Calibri"/>
                <a:cs typeface="Calibri"/>
              </a:rPr>
              <a:t>when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submitted.</a:t>
            </a:r>
            <a:endParaRPr sz="2000">
              <a:latin typeface="Calibri"/>
              <a:cs typeface="Calibri"/>
            </a:endParaRPr>
          </a:p>
          <a:p>
            <a:pPr marL="1155065" lvl="2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Check </a:t>
            </a:r>
            <a:r>
              <a:rPr sz="2000" spc="-5" dirty="0">
                <a:latin typeface="Calibri"/>
                <a:cs typeface="Calibri"/>
              </a:rPr>
              <a:t>performed </a:t>
            </a:r>
            <a:r>
              <a:rPr sz="2000" spc="-15" dirty="0">
                <a:latin typeface="Calibri"/>
                <a:cs typeface="Calibri"/>
              </a:rPr>
              <a:t>before </a:t>
            </a:r>
            <a:r>
              <a:rPr sz="2000" spc="-10" dirty="0">
                <a:latin typeface="Calibri"/>
                <a:cs typeface="Calibri"/>
              </a:rPr>
              <a:t>form data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transmitted</a:t>
            </a:r>
            <a:r>
              <a:rPr sz="2000" spc="-5" dirty="0">
                <a:latin typeface="Calibri"/>
                <a:cs typeface="Calibri"/>
              </a:rPr>
              <a:t> 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server-side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application.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ＭＳ Ｐゴシック" pitchFamily="-112" charset="-128"/>
              </a:rPr>
              <a:t>HTML forms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66191"/>
            <a:ext cx="10515600" cy="5010772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881188" algn="l"/>
              </a:tabLst>
            </a:pPr>
            <a:r>
              <a:rPr lang="en-US" dirty="0">
                <a:solidFill>
                  <a:schemeClr val="tx1"/>
                </a:solidFill>
                <a:ea typeface="ＭＳ Ｐゴシック" pitchFamily="-112" charset="-128"/>
              </a:rPr>
              <a:t>most event-handling in JavaScript is associated with form elements </a:t>
            </a:r>
          </a:p>
          <a:p>
            <a:pPr>
              <a:tabLst>
                <a:tab pos="1881188" algn="l"/>
              </a:tabLst>
            </a:pPr>
            <a:r>
              <a:rPr lang="en-US" dirty="0">
                <a:solidFill>
                  <a:schemeClr val="tx1"/>
                </a:solidFill>
                <a:ea typeface="ＭＳ Ｐゴシック" pitchFamily="-112" charset="-128"/>
              </a:rPr>
              <a:t>an HTML form is a collection of elements for handling input, output, and events in a page</a:t>
            </a:r>
          </a:p>
          <a:p>
            <a:pPr lvl="1">
              <a:tabLst>
                <a:tab pos="1881188" algn="l"/>
              </a:tabLst>
            </a:pPr>
            <a:endParaRPr lang="en-US" dirty="0">
              <a:ea typeface="ＭＳ Ｐゴシック" pitchFamily="-112" charset="-128"/>
            </a:endParaRPr>
          </a:p>
          <a:p>
            <a:pPr lvl="1">
              <a:buNone/>
              <a:tabLst>
                <a:tab pos="1881188" algn="l"/>
              </a:tabLst>
            </a:pPr>
            <a:r>
              <a:rPr lang="en-US" sz="1500" dirty="0">
                <a:solidFill>
                  <a:schemeClr val="tx2"/>
                </a:solidFill>
                <a:latin typeface="Courier New" pitchFamily="-112" charset="0"/>
                <a:ea typeface="ＭＳ Ｐゴシック" pitchFamily="-112" charset="-128"/>
              </a:rPr>
              <a:t>&lt;form id="</a:t>
            </a:r>
            <a:r>
              <a:rPr lang="en-US" sz="1500" dirty="0" err="1">
                <a:solidFill>
                  <a:srgbClr val="009900"/>
                </a:solidFill>
                <a:latin typeface="Courier New" pitchFamily="-112" charset="0"/>
                <a:ea typeface="ＭＳ Ｐゴシック" pitchFamily="-112" charset="-128"/>
              </a:rPr>
              <a:t>FormName</a:t>
            </a:r>
            <a:r>
              <a:rPr lang="en-US" sz="1500" dirty="0">
                <a:solidFill>
                  <a:schemeClr val="tx2"/>
                </a:solidFill>
                <a:latin typeface="Courier New" pitchFamily="-112" charset="0"/>
                <a:ea typeface="ＭＳ Ｐゴシック" pitchFamily="-112" charset="-128"/>
              </a:rPr>
              <a:t>"&gt;              </a:t>
            </a:r>
            <a:endParaRPr lang="en-US" sz="1500" u="sng" dirty="0">
              <a:ea typeface="ＭＳ Ｐゴシック" pitchFamily="-112" charset="-128"/>
            </a:endParaRPr>
          </a:p>
          <a:p>
            <a:pPr lvl="1">
              <a:buNone/>
              <a:tabLst>
                <a:tab pos="1881188" algn="l"/>
              </a:tabLst>
            </a:pPr>
            <a:r>
              <a:rPr lang="en-US" sz="1500" dirty="0">
                <a:latin typeface="Courier New" pitchFamily="-112" charset="0"/>
                <a:ea typeface="ＭＳ Ｐゴシック" pitchFamily="-112" charset="-128"/>
              </a:rPr>
              <a:t>…                                                 </a:t>
            </a:r>
            <a:r>
              <a:rPr lang="en-US" sz="1500" dirty="0">
                <a:ea typeface="ＭＳ Ｐゴシック" pitchFamily="-112" charset="-128"/>
              </a:rPr>
              <a:t>  </a:t>
            </a:r>
          </a:p>
          <a:p>
            <a:pPr lvl="1">
              <a:buNone/>
              <a:tabLst>
                <a:tab pos="1881188" algn="l"/>
              </a:tabLst>
            </a:pPr>
            <a:r>
              <a:rPr lang="en-US" sz="1500" dirty="0">
                <a:solidFill>
                  <a:schemeClr val="tx2"/>
                </a:solidFill>
                <a:latin typeface="Courier New" pitchFamily="-112" charset="0"/>
                <a:ea typeface="ＭＳ Ｐゴシック" pitchFamily="-112" charset="-128"/>
              </a:rPr>
              <a:t>&lt;/form&gt;                                           </a:t>
            </a:r>
            <a:endParaRPr lang="en-US" sz="1500" dirty="0">
              <a:ea typeface="ＭＳ Ｐゴシック" pitchFamily="-112" charset="-128"/>
            </a:endParaRPr>
          </a:p>
          <a:p>
            <a:pPr lvl="1">
              <a:buNone/>
              <a:tabLst>
                <a:tab pos="1881188" algn="l"/>
              </a:tabLst>
            </a:pPr>
            <a:endParaRPr lang="en-US" sz="1500" dirty="0">
              <a:solidFill>
                <a:schemeClr val="tx2"/>
              </a:solidFill>
              <a:latin typeface="Courier New" pitchFamily="-112" charset="0"/>
              <a:ea typeface="ＭＳ Ｐゴシック" pitchFamily="-112" charset="-128"/>
            </a:endParaRPr>
          </a:p>
          <a:p>
            <a:pPr lvl="1">
              <a:buNone/>
              <a:tabLst>
                <a:tab pos="1881188" algn="l"/>
              </a:tabLst>
            </a:pPr>
            <a:endParaRPr lang="en-US" sz="1688" dirty="0">
              <a:latin typeface="Courier New" pitchFamily="-112" charset="0"/>
              <a:ea typeface="ＭＳ Ｐゴシック" pitchFamily="-112" charset="-128"/>
            </a:endParaRPr>
          </a:p>
          <a:p>
            <a:pPr>
              <a:tabLst>
                <a:tab pos="1881188" algn="l"/>
              </a:tabLst>
            </a:pPr>
            <a:r>
              <a:rPr lang="en-US" dirty="0">
                <a:solidFill>
                  <a:schemeClr val="tx1"/>
                </a:solidFill>
                <a:ea typeface="ＭＳ Ｐゴシック" pitchFamily="-112" charset="-128"/>
              </a:rPr>
              <a:t>form elements might include:</a:t>
            </a:r>
          </a:p>
          <a:p>
            <a:pPr lvl="1">
              <a:buNone/>
              <a:tabLst>
                <a:tab pos="1881188" algn="l"/>
              </a:tabLst>
            </a:pPr>
            <a:r>
              <a:rPr lang="en-US" dirty="0">
                <a:ea typeface="ＭＳ Ｐゴシック" pitchFamily="-112" charset="-128"/>
              </a:rPr>
              <a:t>for input: 	</a:t>
            </a:r>
            <a:r>
              <a:rPr lang="en-US" u="sng" dirty="0">
                <a:ea typeface="ＭＳ Ｐゴシック" pitchFamily="-112" charset="-128"/>
              </a:rPr>
              <a:t>button</a:t>
            </a:r>
            <a:r>
              <a:rPr lang="en-US" dirty="0">
                <a:ea typeface="ＭＳ Ｐゴシック" pitchFamily="-112" charset="-128"/>
              </a:rPr>
              <a:t>, selection list, radio button, check box, password, …</a:t>
            </a:r>
          </a:p>
          <a:p>
            <a:pPr lvl="1">
              <a:buNone/>
              <a:tabLst>
                <a:tab pos="1881188" algn="l"/>
              </a:tabLst>
            </a:pPr>
            <a:r>
              <a:rPr lang="en-US" dirty="0">
                <a:ea typeface="ＭＳ Ｐゴシック" pitchFamily="-112" charset="-128"/>
              </a:rPr>
              <a:t>for input/output: 	</a:t>
            </a:r>
            <a:r>
              <a:rPr lang="en-US" u="sng" dirty="0">
                <a:ea typeface="ＭＳ Ｐゴシック" pitchFamily="-112" charset="-128"/>
              </a:rPr>
              <a:t>text box</a:t>
            </a:r>
            <a:r>
              <a:rPr lang="en-US" dirty="0">
                <a:ea typeface="ＭＳ Ｐゴシック" pitchFamily="-112" charset="-128"/>
              </a:rPr>
              <a:t>, </a:t>
            </a:r>
            <a:r>
              <a:rPr lang="en-US" u="sng" dirty="0">
                <a:ea typeface="ＭＳ Ｐゴシック" pitchFamily="-112" charset="-128"/>
              </a:rPr>
              <a:t>text area</a:t>
            </a:r>
            <a:r>
              <a:rPr lang="en-US" dirty="0">
                <a:ea typeface="ＭＳ Ｐゴシック" pitchFamily="-112" charset="-128"/>
              </a:rPr>
              <a:t>, …</a:t>
            </a:r>
          </a:p>
          <a:p>
            <a:pPr lvl="1">
              <a:buNone/>
              <a:tabLst>
                <a:tab pos="1881188" algn="l"/>
              </a:tabLst>
            </a:pPr>
            <a:endParaRPr lang="en-US" dirty="0">
              <a:ea typeface="ＭＳ Ｐゴシック" pitchFamily="-112" charset="-128"/>
            </a:endParaRPr>
          </a:p>
          <a:p>
            <a:pPr lvl="1">
              <a:buNone/>
              <a:tabLst>
                <a:tab pos="1881188" algn="l"/>
              </a:tabLst>
            </a:pPr>
            <a:endParaRPr lang="en-US" dirty="0">
              <a:ea typeface="ＭＳ Ｐゴシック" pitchFamily="-112" charset="-128"/>
            </a:endParaRPr>
          </a:p>
          <a:p>
            <a:pPr>
              <a:tabLst>
                <a:tab pos="1881188" algn="l"/>
              </a:tabLst>
            </a:pPr>
            <a:r>
              <a:rPr lang="en-US" dirty="0">
                <a:solidFill>
                  <a:schemeClr val="tx1"/>
                </a:solidFill>
                <a:ea typeface="ＭＳ Ｐゴシック" pitchFamily="-112" charset="-128"/>
              </a:rPr>
              <a:t>we will also encounter forms when we consider CGI programming and PHP</a:t>
            </a:r>
          </a:p>
          <a:p>
            <a:pPr lvl="1">
              <a:tabLst>
                <a:tab pos="1881188" algn="l"/>
              </a:tabLst>
            </a:pPr>
            <a:r>
              <a:rPr lang="en-US" dirty="0">
                <a:ea typeface="ＭＳ Ｐゴシック" pitchFamily="-112" charset="-128"/>
              </a:rPr>
              <a:t>a form groups together elements, whose contents can be submitted together to a server for further processing on the server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ubtitle 1"/>
          <p:cNvSpPr>
            <a:spLocks noGrp="1"/>
          </p:cNvSpPr>
          <p:nvPr>
            <p:ph type="subTitle" sz="quarter" idx="1"/>
          </p:nvPr>
        </p:nvSpPr>
        <p:spPr>
          <a:xfrm>
            <a:off x="212036" y="1457739"/>
            <a:ext cx="10384528" cy="462500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 </a:t>
            </a:r>
            <a:r>
              <a:rPr lang="en-GB" dirty="0" err="1">
                <a:solidFill>
                  <a:schemeClr val="tx1"/>
                </a:solidFill>
                <a:ea typeface="ＭＳ Ｐゴシック" pitchFamily="-112" charset="-128"/>
              </a:rPr>
              <a:t>document.forms</a:t>
            </a: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[ ] is an (associative) array that will contain elements for each form on the webpage, using the "id" associated with the form as the array index (assuming that a "id" is defined).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One can also use the syntax </a:t>
            </a:r>
          </a:p>
          <a:p>
            <a:pPr algn="l">
              <a:buFontTx/>
              <a:buNone/>
            </a:pP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                </a:t>
            </a:r>
            <a:r>
              <a:rPr lang="en-GB" dirty="0" err="1">
                <a:solidFill>
                  <a:schemeClr val="tx1"/>
                </a:solidFill>
                <a:ea typeface="ＭＳ Ｐゴシック" pitchFamily="-112" charset="-128"/>
              </a:rPr>
              <a:t>document.forms</a:t>
            </a: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[0]</a:t>
            </a:r>
          </a:p>
          <a:p>
            <a:pPr algn="l">
              <a:buFontTx/>
              <a:buNone/>
            </a:pP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  for the first form on the page (and higher indices if there is more than one</a:t>
            </a:r>
          </a:p>
          <a:p>
            <a:pPr algn="l">
              <a:buFontTx/>
              <a:buNone/>
            </a:pP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  form on the same webpage).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ea typeface="ＭＳ Ｐゴシック" pitchFamily="-112" charset="-128"/>
              </a:rPr>
              <a:t> Using the "dotted" syntax, we can then access other HTML elements of the form (using their ids given to those elements).  HTML pages are stored as a hierarchy of parent/child relationships, and this defines the way to access the elements.  (More examples to come...)  </a:t>
            </a:r>
          </a:p>
        </p:txBody>
      </p:sp>
      <p:sp>
        <p:nvSpPr>
          <p:cNvPr id="7171" name="Title 2"/>
          <p:cNvSpPr>
            <a:spLocks noGrp="1"/>
          </p:cNvSpPr>
          <p:nvPr>
            <p:ph type="ctrTitle" sz="quarter"/>
          </p:nvPr>
        </p:nvSpPr>
        <p:spPr>
          <a:xfrm>
            <a:off x="1650103" y="318052"/>
            <a:ext cx="7715250" cy="728870"/>
          </a:xfrm>
        </p:spPr>
        <p:txBody>
          <a:bodyPr>
            <a:normAutofit fontScale="90000"/>
          </a:bodyPr>
          <a:lstStyle/>
          <a:p>
            <a:r>
              <a:rPr lang="en-GB" dirty="0">
                <a:ea typeface="ＭＳ Ｐゴシック" pitchFamily="-112" charset="-128"/>
              </a:rPr>
              <a:t>HTML forms (cont.)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79600" y="254069"/>
            <a:ext cx="9602650" cy="500063"/>
          </a:xfrm>
        </p:spPr>
        <p:txBody>
          <a:bodyPr>
            <a:noAutofit/>
          </a:bodyPr>
          <a:lstStyle/>
          <a:p>
            <a:pPr>
              <a:tabLst>
                <a:tab pos="2354461" algn="l"/>
              </a:tabLst>
            </a:pPr>
            <a:br>
              <a:rPr lang="en-US" sz="2000" dirty="0">
                <a:ea typeface="ＭＳ Ｐゴシック" pitchFamily="-112" charset="-128"/>
              </a:rPr>
            </a:br>
            <a:r>
              <a:rPr lang="en-US" sz="2000" dirty="0">
                <a:solidFill>
                  <a:schemeClr val="tx1"/>
                </a:solidFill>
                <a:ea typeface="ＭＳ Ｐゴシック" pitchFamily="-112" charset="-128"/>
              </a:rPr>
              <a:t>the simplest form element is a button</a:t>
            </a:r>
            <a:br>
              <a:rPr lang="en-US" sz="2000" dirty="0">
                <a:solidFill>
                  <a:schemeClr val="tx1"/>
                </a:solidFill>
                <a:ea typeface="ＭＳ Ｐゴシック" pitchFamily="-112" charset="-128"/>
              </a:rPr>
            </a:br>
            <a:r>
              <a:rPr lang="en-US" sz="2000" dirty="0">
                <a:ea typeface="ＭＳ Ｐゴシック" pitchFamily="-112" charset="-128"/>
              </a:rPr>
              <a:t>analogous to a real-world button, a click can be used to trigger events</a:t>
            </a:r>
            <a:br>
              <a:rPr lang="en-US" sz="2000" dirty="0">
                <a:ea typeface="ＭＳ Ｐゴシック" pitchFamily="-112" charset="-128"/>
              </a:rPr>
            </a:br>
            <a:endParaRPr lang="en-US" sz="2000" dirty="0">
              <a:ea typeface="ＭＳ Ｐゴシック" pitchFamily="-112" charset="-128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523380" y="1280042"/>
            <a:ext cx="5572125" cy="540321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1313" dirty="0">
                <a:latin typeface="Courier New" pitchFamily="-112" charset="0"/>
              </a:rPr>
              <a:t>&lt;head&gt;&lt;title&gt;Fun with Buttons&lt;/title&gt;</a:t>
            </a:r>
          </a:p>
          <a:p>
            <a:endParaRPr lang="en-US" sz="844" dirty="0">
              <a:latin typeface="Courier New" pitchFamily="-112" charset="0"/>
            </a:endParaRPr>
          </a:p>
          <a:p>
            <a:r>
              <a:rPr lang="en-US" sz="1313" dirty="0">
                <a:latin typeface="Courier New" pitchFamily="-112" charset="0"/>
              </a:rPr>
              <a:t>  &lt;script type="text/</a:t>
            </a:r>
            <a:r>
              <a:rPr lang="en-US" sz="1313" dirty="0" err="1">
                <a:latin typeface="Courier New" pitchFamily="-112" charset="0"/>
              </a:rPr>
              <a:t>javascript</a:t>
            </a:r>
            <a:r>
              <a:rPr lang="en-US" sz="1313" dirty="0">
                <a:latin typeface="Courier New" pitchFamily="-112" charset="0"/>
              </a:rPr>
              <a:t>"&gt;</a:t>
            </a:r>
          </a:p>
          <a:p>
            <a:r>
              <a:rPr lang="en-US" sz="1313" dirty="0">
                <a:latin typeface="Courier New" pitchFamily="-112" charset="0"/>
              </a:rPr>
              <a:t>      function Greeting()</a:t>
            </a:r>
          </a:p>
          <a:p>
            <a:r>
              <a:rPr lang="en-US" sz="1313" dirty="0">
                <a:latin typeface="Courier New" pitchFamily="-112" charset="0"/>
              </a:rPr>
              <a:t>      // Results: displays a time-sensitive greeting </a:t>
            </a:r>
          </a:p>
          <a:p>
            <a:r>
              <a:rPr lang="en-US" sz="1313" dirty="0">
                <a:latin typeface="Courier New" pitchFamily="-112" charset="0"/>
              </a:rPr>
              <a:t>      {</a:t>
            </a:r>
          </a:p>
          <a:p>
            <a:r>
              <a:rPr lang="en-US" sz="1313" dirty="0">
                <a:latin typeface="Courier New" pitchFamily="-112" charset="0"/>
              </a:rPr>
              <a:t>        var now = new Date();</a:t>
            </a:r>
          </a:p>
          <a:p>
            <a:r>
              <a:rPr lang="en-US" sz="1313" dirty="0">
                <a:latin typeface="Courier New" pitchFamily="-112" charset="0"/>
              </a:rPr>
              <a:t>        if (</a:t>
            </a:r>
            <a:r>
              <a:rPr lang="en-US" sz="1313" dirty="0" err="1">
                <a:latin typeface="Courier New" pitchFamily="-112" charset="0"/>
              </a:rPr>
              <a:t>now.getHours</a:t>
            </a:r>
            <a:r>
              <a:rPr lang="en-US" sz="1313" dirty="0">
                <a:latin typeface="Courier New" pitchFamily="-112" charset="0"/>
              </a:rPr>
              <a:t>() &lt; 12) {</a:t>
            </a:r>
          </a:p>
          <a:p>
            <a:r>
              <a:rPr lang="en-US" sz="1313" dirty="0">
                <a:latin typeface="Courier New" pitchFamily="-112" charset="0"/>
              </a:rPr>
              <a:t>          alert("Good morning");</a:t>
            </a:r>
          </a:p>
          <a:p>
            <a:r>
              <a:rPr lang="en-US" sz="1313" dirty="0">
                <a:latin typeface="Courier New" pitchFamily="-112" charset="0"/>
              </a:rPr>
              <a:t>        } </a:t>
            </a:r>
          </a:p>
          <a:p>
            <a:r>
              <a:rPr lang="en-US" sz="1313" dirty="0">
                <a:latin typeface="Courier New" pitchFamily="-112" charset="0"/>
              </a:rPr>
              <a:t>        else if (</a:t>
            </a:r>
            <a:r>
              <a:rPr lang="en-US" sz="1313" dirty="0" err="1">
                <a:latin typeface="Courier New" pitchFamily="-112" charset="0"/>
              </a:rPr>
              <a:t>now.getHours</a:t>
            </a:r>
            <a:r>
              <a:rPr lang="en-US" sz="1313" dirty="0">
                <a:latin typeface="Courier New" pitchFamily="-112" charset="0"/>
              </a:rPr>
              <a:t>() &lt; 18) {</a:t>
            </a:r>
          </a:p>
          <a:p>
            <a:r>
              <a:rPr lang="en-US" sz="1313" dirty="0">
                <a:latin typeface="Courier New" pitchFamily="-112" charset="0"/>
              </a:rPr>
              <a:t>          alert("Good afternoon");</a:t>
            </a:r>
          </a:p>
          <a:p>
            <a:r>
              <a:rPr lang="en-US" sz="1313" dirty="0">
                <a:latin typeface="Courier New" pitchFamily="-112" charset="0"/>
              </a:rPr>
              <a:t>        }</a:t>
            </a:r>
          </a:p>
          <a:p>
            <a:r>
              <a:rPr lang="en-US" sz="1313" dirty="0">
                <a:latin typeface="Courier New" pitchFamily="-112" charset="0"/>
              </a:rPr>
              <a:t>        else {</a:t>
            </a:r>
          </a:p>
          <a:p>
            <a:r>
              <a:rPr lang="en-US" sz="1313" dirty="0">
                <a:latin typeface="Courier New" pitchFamily="-112" charset="0"/>
              </a:rPr>
              <a:t>          alert("Good evening");</a:t>
            </a:r>
          </a:p>
          <a:p>
            <a:r>
              <a:rPr lang="en-US" sz="1313" dirty="0">
                <a:latin typeface="Courier New" pitchFamily="-112" charset="0"/>
              </a:rPr>
              <a:t>        }</a:t>
            </a:r>
          </a:p>
          <a:p>
            <a:r>
              <a:rPr lang="en-US" sz="1313" dirty="0">
                <a:latin typeface="Courier New" pitchFamily="-112" charset="0"/>
              </a:rPr>
              <a:t>      }       </a:t>
            </a:r>
          </a:p>
          <a:p>
            <a:r>
              <a:rPr lang="en-US" sz="1313" dirty="0">
                <a:latin typeface="Courier New" pitchFamily="-112" charset="0"/>
              </a:rPr>
              <a:t>  &lt;/script&gt; &lt;/head&gt;</a:t>
            </a:r>
          </a:p>
          <a:p>
            <a:endParaRPr lang="en-US" sz="844" dirty="0">
              <a:latin typeface="Courier New" pitchFamily="-112" charset="0"/>
            </a:endParaRPr>
          </a:p>
          <a:p>
            <a:r>
              <a:rPr lang="en-US" sz="1313" dirty="0">
                <a:latin typeface="Courier New" pitchFamily="-112" charset="0"/>
              </a:rPr>
              <a:t> &lt;body&gt;</a:t>
            </a:r>
          </a:p>
          <a:p>
            <a:r>
              <a:rPr lang="en-US" sz="1313" dirty="0">
                <a:latin typeface="Courier New" pitchFamily="-112" charset="0"/>
              </a:rPr>
              <a:t>  &lt;form id="</a:t>
            </a:r>
            <a:r>
              <a:rPr lang="en-US" sz="1313" dirty="0" err="1">
                <a:latin typeface="Courier New" pitchFamily="-112" charset="0"/>
              </a:rPr>
              <a:t>ButtonForm</a:t>
            </a:r>
            <a:r>
              <a:rPr lang="en-US" sz="1313" dirty="0">
                <a:latin typeface="Courier New" pitchFamily="-112" charset="0"/>
              </a:rPr>
              <a:t>"&gt;</a:t>
            </a:r>
          </a:p>
          <a:p>
            <a:r>
              <a:rPr lang="en-US" sz="1313" dirty="0">
                <a:solidFill>
                  <a:srgbClr val="FF0033"/>
                </a:solidFill>
                <a:latin typeface="Courier New" pitchFamily="-112" charset="0"/>
              </a:rPr>
              <a:t>   </a:t>
            </a:r>
            <a:r>
              <a:rPr lang="en-US" sz="1313" dirty="0">
                <a:latin typeface="Courier New" pitchFamily="-112" charset="0"/>
              </a:rPr>
              <a:t>&lt;p&gt;</a:t>
            </a:r>
            <a:r>
              <a:rPr lang="en-US" sz="1313" dirty="0">
                <a:solidFill>
                  <a:srgbClr val="FF0033"/>
                </a:solidFill>
                <a:latin typeface="Courier New" pitchFamily="-112" charset="0"/>
              </a:rPr>
              <a:t> &lt;input type="</a:t>
            </a:r>
            <a:r>
              <a:rPr lang="en-US" sz="1313" dirty="0">
                <a:solidFill>
                  <a:schemeClr val="accent2"/>
                </a:solidFill>
                <a:latin typeface="Courier New" pitchFamily="-112" charset="0"/>
              </a:rPr>
              <a:t>button</a:t>
            </a:r>
            <a:r>
              <a:rPr lang="en-US" sz="1313" dirty="0">
                <a:solidFill>
                  <a:srgbClr val="FF0033"/>
                </a:solidFill>
                <a:latin typeface="Courier New" pitchFamily="-112" charset="0"/>
              </a:rPr>
              <a:t>" value="</a:t>
            </a:r>
            <a:r>
              <a:rPr lang="en-US" sz="1313" dirty="0">
                <a:solidFill>
                  <a:srgbClr val="009900"/>
                </a:solidFill>
                <a:latin typeface="Courier New" pitchFamily="-112" charset="0"/>
              </a:rPr>
              <a:t>Greeting</a:t>
            </a:r>
            <a:r>
              <a:rPr lang="en-US" sz="1313" dirty="0">
                <a:solidFill>
                  <a:srgbClr val="FF0033"/>
                </a:solidFill>
                <a:latin typeface="Courier New" pitchFamily="-112" charset="0"/>
              </a:rPr>
              <a:t>"</a:t>
            </a:r>
          </a:p>
          <a:p>
            <a:r>
              <a:rPr lang="en-US" sz="1313" dirty="0">
                <a:solidFill>
                  <a:srgbClr val="FF0033"/>
                </a:solidFill>
                <a:latin typeface="Courier New" pitchFamily="-112" charset="0"/>
              </a:rPr>
              <a:t>           onclick="</a:t>
            </a:r>
            <a:r>
              <a:rPr lang="en-US" sz="1313" dirty="0">
                <a:latin typeface="Courier New" pitchFamily="-112" charset="0"/>
              </a:rPr>
              <a:t>Greeting();</a:t>
            </a:r>
            <a:r>
              <a:rPr lang="en-US" sz="1313" dirty="0">
                <a:solidFill>
                  <a:srgbClr val="FF0033"/>
                </a:solidFill>
                <a:latin typeface="Courier New" pitchFamily="-112" charset="0"/>
              </a:rPr>
              <a:t>" /&gt;   </a:t>
            </a:r>
            <a:r>
              <a:rPr lang="en-US" sz="1313" dirty="0">
                <a:latin typeface="Courier New" pitchFamily="-112" charset="0"/>
              </a:rPr>
              <a:t>&lt;/p&gt;</a:t>
            </a:r>
          </a:p>
          <a:p>
            <a:r>
              <a:rPr lang="en-US" sz="1313" dirty="0">
                <a:latin typeface="Courier New" pitchFamily="-112" charset="0"/>
              </a:rPr>
              <a:t>  &lt;/form&gt;</a:t>
            </a:r>
          </a:p>
          <a:p>
            <a:r>
              <a:rPr lang="en-US" sz="1313" dirty="0">
                <a:latin typeface="Courier New" pitchFamily="-112" charset="0"/>
              </a:rPr>
              <a:t> &lt;/body&gt;</a:t>
            </a:r>
          </a:p>
          <a:p>
            <a:r>
              <a:rPr lang="en-US" sz="1313" dirty="0">
                <a:latin typeface="Courier New" pitchFamily="-112" charset="0"/>
              </a:rPr>
              <a:t>&lt;/html&gt;</a:t>
            </a:r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7524750" y="714375"/>
            <a:ext cx="2857500" cy="113133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215801" indent="-215801">
              <a:spcBef>
                <a:spcPct val="50000"/>
              </a:spcBef>
            </a:pPr>
            <a:r>
              <a:rPr lang="en-US" sz="1688" dirty="0">
                <a:latin typeface="Arial Narrow" pitchFamily="-112" charset="0"/>
              </a:rPr>
              <a:t>for complex tasks</a:t>
            </a:r>
            <a:r>
              <a:rPr lang="en-US" sz="1688" dirty="0">
                <a:solidFill>
                  <a:schemeClr val="accent2"/>
                </a:solidFill>
                <a:latin typeface="Arial Narrow" pitchFamily="-112" charset="0"/>
              </a:rPr>
              <a:t>,</a:t>
            </a:r>
            <a:r>
              <a:rPr lang="en-US" sz="1688" dirty="0">
                <a:latin typeface="Arial Narrow" pitchFamily="-112" charset="0"/>
              </a:rPr>
              <a:t> we can define function(s) and have the </a:t>
            </a:r>
            <a:r>
              <a:rPr lang="en-US" sz="1688" dirty="0">
                <a:solidFill>
                  <a:schemeClr val="tx2"/>
                </a:solidFill>
                <a:latin typeface="Arial Narrow" pitchFamily="-112" charset="0"/>
              </a:rPr>
              <a:t>onclick</a:t>
            </a:r>
            <a:r>
              <a:rPr lang="en-US" sz="1688" dirty="0">
                <a:latin typeface="Arial Narrow" pitchFamily="-112" charset="0"/>
              </a:rPr>
              <a:t> event trigger a function call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82C8-4AD4-7A81-B473-B044C7F1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5912"/>
          </a:xfrm>
        </p:spPr>
        <p:txBody>
          <a:bodyPr>
            <a:noAutofit/>
          </a:bodyPr>
          <a:lstStyle/>
          <a:p>
            <a:r>
              <a:rPr lang="en-US" sz="2800" b="1" i="1" dirty="0"/>
              <a:t>Form 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23CD9-8ACA-E5FE-9352-1670D8133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2347259" y="744290"/>
            <a:ext cx="4290391" cy="58442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&lt;html&gt;&lt;head&gt;&lt;title&gt;Form Validation&lt;/title&gt;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 type="text/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validate()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if(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document.myForm.Name.value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"" 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alert( "Please provide your name!" );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document.myForm.EMail.value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"" 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alert( "Please provide your Email!" );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document.myForm.Country.value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"-1" 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alert( "Please provide your country!" );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alert("register successfully"); 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 &lt;/head&gt;</a:t>
            </a:r>
            <a:endParaRPr lang="en-US" sz="18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BC05207-61FC-F40A-FC47-CE5FE56C9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7217" y="834887"/>
            <a:ext cx="5456583" cy="534207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500" dirty="0"/>
              <a:t>&lt;body&gt;</a:t>
            </a:r>
          </a:p>
          <a:p>
            <a:pPr marL="0" indent="0">
              <a:buNone/>
            </a:pPr>
            <a:r>
              <a:rPr lang="en-US" sz="5500" dirty="0"/>
              <a:t>&lt;form action="" name="</a:t>
            </a:r>
            <a:r>
              <a:rPr lang="en-US" sz="5500" dirty="0" err="1"/>
              <a:t>myForm</a:t>
            </a:r>
            <a:r>
              <a:rPr lang="en-US" sz="5500" dirty="0"/>
              <a:t>" ;"&gt;</a:t>
            </a:r>
          </a:p>
          <a:p>
            <a:pPr marL="0" indent="0">
              <a:buNone/>
            </a:pPr>
            <a:r>
              <a:rPr lang="en-US" sz="5500" dirty="0"/>
              <a:t>Name: &lt;input type="text" name="Name" /&gt;&lt;/</a:t>
            </a:r>
            <a:r>
              <a:rPr lang="en-US" sz="5500" dirty="0" err="1"/>
              <a:t>br</a:t>
            </a:r>
            <a:r>
              <a:rPr lang="en-US" sz="5500" dirty="0"/>
              <a:t>&gt;</a:t>
            </a:r>
          </a:p>
          <a:p>
            <a:pPr marL="0" indent="0">
              <a:buNone/>
            </a:pPr>
            <a:r>
              <a:rPr lang="en-US" sz="5500" dirty="0" err="1"/>
              <a:t>EMail</a:t>
            </a:r>
            <a:r>
              <a:rPr lang="en-US" sz="5500" dirty="0"/>
              <a:t>: &lt;input type="text" name="</a:t>
            </a:r>
            <a:r>
              <a:rPr lang="en-US" sz="5500" dirty="0" err="1"/>
              <a:t>EMail</a:t>
            </a:r>
            <a:r>
              <a:rPr lang="en-US" sz="5500" dirty="0"/>
              <a:t>" /&gt;&lt;/</a:t>
            </a:r>
            <a:r>
              <a:rPr lang="en-US" sz="5500" dirty="0" err="1"/>
              <a:t>br</a:t>
            </a:r>
            <a:r>
              <a:rPr lang="en-US" sz="5500" dirty="0"/>
              <a:t>&gt;&lt;/</a:t>
            </a:r>
            <a:r>
              <a:rPr lang="en-US" sz="5500" dirty="0" err="1"/>
              <a:t>br</a:t>
            </a:r>
            <a:r>
              <a:rPr lang="en-US" sz="5500" dirty="0"/>
              <a:t>&gt;</a:t>
            </a:r>
          </a:p>
          <a:p>
            <a:pPr marL="0" indent="0">
              <a:buNone/>
            </a:pPr>
            <a:r>
              <a:rPr lang="en-US" sz="5500" dirty="0"/>
              <a:t>Country:&lt;select name="Country"&gt;</a:t>
            </a:r>
          </a:p>
          <a:p>
            <a:pPr marL="0" indent="0">
              <a:buNone/>
            </a:pPr>
            <a:r>
              <a:rPr lang="en-US" sz="5500" dirty="0"/>
              <a:t>&lt;option value="-1" selected&gt;[choose yours]&lt;/option&gt;</a:t>
            </a:r>
          </a:p>
          <a:p>
            <a:pPr marL="0" indent="0">
              <a:buNone/>
            </a:pPr>
            <a:r>
              <a:rPr lang="en-US" sz="5500" dirty="0"/>
              <a:t>&lt;option value="1"&gt;Ethiopia&lt;/option&gt;</a:t>
            </a:r>
          </a:p>
          <a:p>
            <a:pPr marL="0" indent="0">
              <a:buNone/>
            </a:pPr>
            <a:r>
              <a:rPr lang="en-US" sz="5500" dirty="0"/>
              <a:t>&lt;option value="2"&gt;Sudan&lt;/option&gt;</a:t>
            </a:r>
          </a:p>
          <a:p>
            <a:pPr marL="0" indent="0">
              <a:buNone/>
            </a:pPr>
            <a:r>
              <a:rPr lang="en-US" sz="5500" dirty="0"/>
              <a:t>&lt;option value="3"&gt;Kenya&lt;/option&gt;</a:t>
            </a:r>
          </a:p>
          <a:p>
            <a:pPr marL="0" indent="0">
              <a:buNone/>
            </a:pPr>
            <a:r>
              <a:rPr lang="en-US" sz="5500" dirty="0"/>
              <a:t>&lt;/select&gt; &lt;/</a:t>
            </a:r>
            <a:r>
              <a:rPr lang="en-US" sz="5500" dirty="0" err="1"/>
              <a:t>br</a:t>
            </a:r>
            <a:r>
              <a:rPr lang="en-US" sz="5500" dirty="0"/>
              <a:t>&gt;&lt;/</a:t>
            </a:r>
            <a:r>
              <a:rPr lang="en-US" sz="5500" dirty="0" err="1"/>
              <a:t>br</a:t>
            </a:r>
            <a:r>
              <a:rPr lang="en-US" sz="5500" dirty="0"/>
              <a:t>&gt;&lt;/</a:t>
            </a:r>
            <a:r>
              <a:rPr lang="en-US" sz="5500" dirty="0" err="1"/>
              <a:t>br</a:t>
            </a:r>
            <a:r>
              <a:rPr lang="en-US" sz="5500" dirty="0"/>
              <a:t>&gt;</a:t>
            </a:r>
          </a:p>
          <a:p>
            <a:pPr marL="0" indent="0">
              <a:buNone/>
            </a:pPr>
            <a:r>
              <a:rPr lang="en-US" sz="5500" dirty="0"/>
              <a:t>&lt;input type="submit" value="Submit" onclick="validate()"/&gt;</a:t>
            </a:r>
          </a:p>
          <a:p>
            <a:pPr marL="0" indent="0">
              <a:buNone/>
            </a:pPr>
            <a:r>
              <a:rPr lang="en-US" sz="5500" dirty="0"/>
              <a:t>&lt;/form&gt;</a:t>
            </a:r>
          </a:p>
          <a:p>
            <a:pPr marL="0" indent="0">
              <a:buNone/>
            </a:pPr>
            <a:r>
              <a:rPr lang="en-US" sz="5500" dirty="0"/>
              <a:t>&lt;/body&gt;</a:t>
            </a:r>
          </a:p>
          <a:p>
            <a:pPr marL="0" indent="0">
              <a:buNone/>
            </a:pPr>
            <a:r>
              <a:rPr lang="en-US" sz="5500" dirty="0"/>
              <a:t>&lt;/html&gt;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365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9818-8605-E990-742E-AF221E79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83" y="365125"/>
            <a:ext cx="10850217" cy="522771"/>
          </a:xfrm>
        </p:spPr>
        <p:txBody>
          <a:bodyPr>
            <a:norm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password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259E-B376-2D3A-DCC8-3EB36D494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4558" y="887896"/>
            <a:ext cx="4757529" cy="52890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dirty="0"/>
              <a:t>&lt;html&gt;</a:t>
            </a:r>
          </a:p>
          <a:p>
            <a:pPr marL="0" indent="0">
              <a:buNone/>
            </a:pPr>
            <a:r>
              <a:rPr lang="en-US" sz="2600" dirty="0"/>
              <a:t>&lt;head&gt;</a:t>
            </a:r>
          </a:p>
          <a:p>
            <a:pPr marL="0" indent="0">
              <a:buNone/>
            </a:pPr>
            <a:r>
              <a:rPr lang="en-US" sz="2600" dirty="0"/>
              <a:t>&lt;script type="text/</a:t>
            </a:r>
            <a:r>
              <a:rPr lang="en-US" sz="2600" dirty="0" err="1"/>
              <a:t>javascript</a:t>
            </a:r>
            <a:r>
              <a:rPr lang="en-US" sz="2600" dirty="0"/>
              <a:t>"&gt;</a:t>
            </a:r>
          </a:p>
          <a:p>
            <a:pPr marL="0" indent="0">
              <a:buNone/>
            </a:pPr>
            <a:r>
              <a:rPr lang="en-US" sz="2600" dirty="0"/>
              <a:t>function </a:t>
            </a:r>
            <a:r>
              <a:rPr lang="en-US" sz="2600" dirty="0" err="1"/>
              <a:t>matchpass</a:t>
            </a:r>
            <a:r>
              <a:rPr lang="en-US" sz="2600" dirty="0"/>
              <a:t>(){</a:t>
            </a:r>
          </a:p>
          <a:p>
            <a:pPr marL="0" indent="0">
              <a:buNone/>
            </a:pPr>
            <a:r>
              <a:rPr lang="en-US" sz="2600" dirty="0"/>
              <a:t>var </a:t>
            </a:r>
            <a:r>
              <a:rPr lang="en-US" sz="2600" dirty="0" err="1"/>
              <a:t>firstpassword</a:t>
            </a:r>
            <a:r>
              <a:rPr lang="en-US" sz="2600" dirty="0"/>
              <a:t>=document.f1.password.value;</a:t>
            </a:r>
          </a:p>
          <a:p>
            <a:pPr marL="0" indent="0">
              <a:buNone/>
            </a:pPr>
            <a:r>
              <a:rPr lang="en-US" sz="2600" dirty="0"/>
              <a:t>var </a:t>
            </a:r>
            <a:r>
              <a:rPr lang="en-US" sz="2600" dirty="0" err="1"/>
              <a:t>secondpassword</a:t>
            </a:r>
            <a:r>
              <a:rPr lang="en-US" sz="2600" dirty="0"/>
              <a:t>=document.f1.password2.value;</a:t>
            </a:r>
          </a:p>
          <a:p>
            <a:pPr marL="0" indent="0">
              <a:buNone/>
            </a:pPr>
            <a:r>
              <a:rPr lang="en-US" sz="2600" dirty="0"/>
              <a:t>if(</a:t>
            </a:r>
            <a:r>
              <a:rPr lang="en-US" sz="2600" dirty="0" err="1"/>
              <a:t>firstpassword</a:t>
            </a:r>
            <a:r>
              <a:rPr lang="en-US" sz="2600" dirty="0"/>
              <a:t>==</a:t>
            </a:r>
            <a:r>
              <a:rPr lang="en-US" sz="2600" dirty="0" err="1"/>
              <a:t>secondpassword</a:t>
            </a:r>
            <a:r>
              <a:rPr lang="en-US" sz="2600" dirty="0"/>
              <a:t>){</a:t>
            </a:r>
          </a:p>
          <a:p>
            <a:pPr marL="0" indent="0">
              <a:buNone/>
            </a:pPr>
            <a:r>
              <a:rPr lang="en-US" sz="2600" dirty="0"/>
              <a:t>alert("well came to my page!!!")</a:t>
            </a:r>
          </a:p>
          <a:p>
            <a:pPr marL="0" indent="0">
              <a:buNone/>
            </a:pPr>
            <a:r>
              <a:rPr lang="en-US" sz="2600" dirty="0"/>
              <a:t>return true;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else{</a:t>
            </a:r>
          </a:p>
          <a:p>
            <a:pPr marL="0" indent="0">
              <a:buNone/>
            </a:pPr>
            <a:r>
              <a:rPr lang="en-US" sz="2600" dirty="0"/>
              <a:t>alert("password must be same!");</a:t>
            </a:r>
          </a:p>
          <a:p>
            <a:pPr marL="0" indent="0">
              <a:buNone/>
            </a:pPr>
            <a:r>
              <a:rPr lang="en-US" sz="2600" dirty="0"/>
              <a:t>return false;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&lt;/script&gt;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F2955-D279-A19F-DF2F-CEF9D4D14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9322" y="980661"/>
            <a:ext cx="6838120" cy="519630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&lt;form name="f1" action="" &gt;</a:t>
            </a:r>
          </a:p>
          <a:p>
            <a:pPr marL="0" indent="0">
              <a:buNone/>
            </a:pPr>
            <a:r>
              <a:rPr lang="en-US" dirty="0"/>
              <a:t>Password:&lt;input type="password" name="password" /&gt;&lt;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pPr marL="0" indent="0">
              <a:buNone/>
            </a:pPr>
            <a:r>
              <a:rPr lang="en-US" dirty="0"/>
              <a:t>Re-enter Password:&lt;input type="password" name="password2"/&gt;&lt;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pPr marL="0" indent="0">
              <a:buNone/>
            </a:pPr>
            <a:r>
              <a:rPr lang="en-US" dirty="0"/>
              <a:t>&lt;input type="submit" onclick= "</a:t>
            </a:r>
            <a:r>
              <a:rPr lang="en-US" dirty="0" err="1"/>
              <a:t>matchpass</a:t>
            </a:r>
            <a:r>
              <a:rPr lang="en-US" dirty="0"/>
              <a:t>()"&gt;</a:t>
            </a:r>
          </a:p>
          <a:p>
            <a:pPr marL="0" indent="0">
              <a:buNone/>
            </a:pPr>
            <a:r>
              <a:rPr lang="en-US" dirty="0"/>
              <a:t>&lt;/form&gt;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1065993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0A8497E6-2ABF-4DC8-9551-F32E869E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Redirection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0F14B94E-B173-40FE-982A-7416055D9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653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Commonly used feature.</a:t>
            </a:r>
          </a:p>
          <a:p>
            <a:pPr lvl="1"/>
            <a:r>
              <a:rPr lang="en-US" dirty="0"/>
              <a:t>A previously existing web site might have moved to a new location.</a:t>
            </a:r>
          </a:p>
          <a:p>
            <a:pPr lvl="1"/>
            <a:r>
              <a:rPr lang="en-US" dirty="0"/>
              <a:t>You may want the request to be redirected to a site depending on the browser type and version.</a:t>
            </a:r>
          </a:p>
          <a:p>
            <a:pPr lvl="1"/>
            <a:r>
              <a:rPr lang="en-US" dirty="0"/>
              <a:t>Manipulate the </a:t>
            </a:r>
            <a:r>
              <a:rPr lang="en-US" dirty="0" err="1"/>
              <a:t>window.location</a:t>
            </a:r>
            <a:r>
              <a:rPr lang="en-US" dirty="0"/>
              <a:t> attribute.</a:t>
            </a:r>
          </a:p>
          <a:p>
            <a:r>
              <a:rPr lang="en-US" dirty="0"/>
              <a:t>An example follows.</a:t>
            </a:r>
          </a:p>
          <a:p>
            <a:pPr lvl="1"/>
            <a:r>
              <a:rPr lang="en-US" dirty="0"/>
              <a:t>Will take us to a page after 5 seconds.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 marL="457200" lvl="1" indent="0">
              <a:buNone/>
            </a:pPr>
            <a:r>
              <a:rPr lang="en-US" dirty="0"/>
              <a:t>&lt;script&gt;</a:t>
            </a:r>
          </a:p>
          <a:p>
            <a:pPr marL="457200" lvl="1" indent="0">
              <a:buNone/>
            </a:pPr>
            <a:r>
              <a:rPr lang="en-US" dirty="0"/>
              <a:t>    function </a:t>
            </a:r>
            <a:r>
              <a:rPr lang="en-US" dirty="0" err="1"/>
              <a:t>getgoing</a:t>
            </a:r>
            <a:r>
              <a:rPr lang="en-US" dirty="0"/>
              <a:t> (){</a:t>
            </a:r>
          </a:p>
          <a:p>
            <a:pPr marL="457200" lvl="1" indent="0">
              <a:buNone/>
            </a:pPr>
            <a:r>
              <a:rPr lang="en-US" dirty="0"/>
              <a:t>        </a:t>
            </a:r>
            <a:r>
              <a:rPr lang="en-US" dirty="0" err="1"/>
              <a:t>window.location</a:t>
            </a:r>
            <a:r>
              <a:rPr lang="en-US" dirty="0"/>
              <a:t> = "http://www.bdu.edu.et";</a:t>
            </a:r>
          </a:p>
          <a:p>
            <a:pPr marL="457200" lvl="1" indent="0">
              <a:buNone/>
            </a:pPr>
            <a:r>
              <a:rPr lang="en-US" dirty="0"/>
              <a:t>    }</a:t>
            </a:r>
          </a:p>
          <a:p>
            <a:pPr marL="457200" lvl="1" indent="0">
              <a:buNone/>
            </a:pPr>
            <a:r>
              <a:rPr lang="en-US" dirty="0"/>
              <a:t>    alert( "You will be redirected in five seconds.");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setTimeout</a:t>
            </a:r>
            <a:r>
              <a:rPr lang="en-US" dirty="0"/>
              <a:t> ('</a:t>
            </a:r>
            <a:r>
              <a:rPr lang="en-US" dirty="0" err="1"/>
              <a:t>getgoing</a:t>
            </a:r>
            <a:r>
              <a:rPr lang="en-US" dirty="0"/>
              <a:t>()', 5000);</a:t>
            </a:r>
          </a:p>
          <a:p>
            <a:pPr marL="457200" lvl="1" indent="0">
              <a:buNone/>
            </a:pPr>
            <a:r>
              <a:rPr lang="en-US" dirty="0"/>
              <a:t>&lt;/script 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4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6F2314B2-8C91-4EC4-ADA9-97851696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Browser Window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3CCB4E87-47E6-4E4D-AFC9-5EFE37636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/>
              <a:t>To open a new window, we need to call the </a:t>
            </a:r>
            <a:r>
              <a:rPr lang="en-US" sz="2600" dirty="0" err="1"/>
              <a:t>window.open</a:t>
            </a:r>
            <a:r>
              <a:rPr lang="en-US" sz="2600" dirty="0"/>
              <a:t>() method.</a:t>
            </a:r>
          </a:p>
          <a:p>
            <a:r>
              <a:rPr lang="en-US" sz="2600" dirty="0" err="1"/>
              <a:t>window.open</a:t>
            </a:r>
            <a:r>
              <a:rPr lang="en-US" sz="2600" dirty="0"/>
              <a:t> (‘</a:t>
            </a:r>
            <a:r>
              <a:rPr lang="en-US" sz="2600" dirty="0" err="1"/>
              <a:t>url</a:t>
            </a:r>
            <a:r>
              <a:rPr lang="en-US" sz="2600" dirty="0"/>
              <a:t> to open’, ‘window name’, attribute1, attribute2, …);</a:t>
            </a:r>
          </a:p>
          <a:p>
            <a:pPr lvl="1"/>
            <a:r>
              <a:rPr lang="en-US" dirty="0"/>
              <a:t>Window attributes:</a:t>
            </a:r>
          </a:p>
          <a:p>
            <a:pPr lvl="2"/>
            <a:r>
              <a:rPr lang="en-US" sz="2200" dirty="0"/>
              <a:t>width = 300</a:t>
            </a:r>
          </a:p>
          <a:p>
            <a:pPr lvl="2"/>
            <a:r>
              <a:rPr lang="en-US" sz="2200" dirty="0"/>
              <a:t>height = 200</a:t>
            </a:r>
          </a:p>
          <a:p>
            <a:pPr lvl="2"/>
            <a:r>
              <a:rPr lang="en-US" sz="2200" dirty="0"/>
              <a:t>resizable = yes or no</a:t>
            </a:r>
          </a:p>
          <a:p>
            <a:pPr lvl="2"/>
            <a:r>
              <a:rPr lang="en-US" sz="2200" dirty="0"/>
              <a:t>scrollbars = yes or no</a:t>
            </a:r>
          </a:p>
          <a:p>
            <a:pPr lvl="2"/>
            <a:r>
              <a:rPr lang="en-US" sz="2200" dirty="0"/>
              <a:t>toolbars = yes or no</a:t>
            </a:r>
          </a:p>
          <a:p>
            <a:pPr lvl="2"/>
            <a:r>
              <a:rPr lang="en-US" sz="2200" dirty="0"/>
              <a:t>status = yes or no</a:t>
            </a:r>
          </a:p>
          <a:p>
            <a:pPr lvl="2"/>
            <a:r>
              <a:rPr lang="en-US" sz="2200" dirty="0" err="1"/>
              <a:t>menubar</a:t>
            </a:r>
            <a:r>
              <a:rPr lang="en-US" sz="2200" dirty="0"/>
              <a:t> = yes or no</a:t>
            </a:r>
          </a:p>
          <a:p>
            <a:pPr lvl="2"/>
            <a:r>
              <a:rPr lang="en-US" sz="2200" dirty="0" err="1"/>
              <a:t>copyhistory</a:t>
            </a:r>
            <a:r>
              <a:rPr lang="en-US" sz="2200" dirty="0"/>
              <a:t> = yes or no</a:t>
            </a:r>
          </a:p>
          <a:p>
            <a:pPr lvl="1"/>
            <a:r>
              <a:rPr lang="en-US" dirty="0"/>
              <a:t>An example is shown with some of the attributes.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6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ርእስ 1">
            <a:extLst>
              <a:ext uri="{FF2B5EF4-FFF2-40B4-BE49-F238E27FC236}">
                <a16:creationId xmlns:a16="http://schemas.microsoft.com/office/drawing/2014/main" id="{6F2314B2-8C91-4EC4-ADA9-97851696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Browser Window (cont...)</a:t>
            </a:r>
          </a:p>
        </p:txBody>
      </p:sp>
      <p:sp>
        <p:nvSpPr>
          <p:cNvPr id="3" name="ይዘት ቦታ ያዥ 2">
            <a:extLst>
              <a:ext uri="{FF2B5EF4-FFF2-40B4-BE49-F238E27FC236}">
                <a16:creationId xmlns:a16="http://schemas.microsoft.com/office/drawing/2014/main" id="{3CCB4E87-47E6-4E4D-AFC9-5EFE37636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000" dirty="0"/>
              <a:t>&lt;FORM&gt; </a:t>
            </a:r>
          </a:p>
          <a:p>
            <a:pPr marL="457200" lvl="1" indent="0">
              <a:buNone/>
            </a:pPr>
            <a:r>
              <a:rPr lang="en-US" sz="2000" dirty="0"/>
              <a:t>&lt;INPUT type="button" value="New Window!" </a:t>
            </a:r>
            <a:r>
              <a:rPr lang="en-US" sz="2000" dirty="0" err="1"/>
              <a:t>onClick</a:t>
            </a:r>
            <a:r>
              <a:rPr lang="en-US" sz="2000" dirty="0"/>
              <a:t>="</a:t>
            </a:r>
            <a:r>
              <a:rPr lang="en-US" sz="2000" dirty="0" err="1">
                <a:solidFill>
                  <a:srgbClr val="FF0000"/>
                </a:solidFill>
              </a:rPr>
              <a:t>window.open</a:t>
            </a:r>
            <a:r>
              <a:rPr lang="en-US" sz="2000" dirty="0">
                <a:solidFill>
                  <a:srgbClr val="FF0000"/>
                </a:solidFill>
              </a:rPr>
              <a:t>('http://www.bdu.edu.et’, '</a:t>
            </a:r>
            <a:r>
              <a:rPr lang="en-US" sz="2000" dirty="0" err="1">
                <a:solidFill>
                  <a:srgbClr val="FF0000"/>
                </a:solidFill>
              </a:rPr>
              <a:t>mywindow</a:t>
            </a:r>
            <a:r>
              <a:rPr lang="en-US" sz="2000" dirty="0">
                <a:solidFill>
                  <a:srgbClr val="FF0000"/>
                </a:solidFill>
              </a:rPr>
              <a:t>’, 'width=400', 'height=200', 'toolbar=yes', 'status=yes')</a:t>
            </a:r>
            <a:r>
              <a:rPr lang="en-US" sz="2000" dirty="0"/>
              <a:t>"&gt; </a:t>
            </a:r>
          </a:p>
          <a:p>
            <a:pPr marL="0" indent="0">
              <a:buNone/>
            </a:pPr>
            <a:r>
              <a:rPr lang="en-US" sz="2000" dirty="0"/>
              <a:t>&lt;/FORM&gt;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8429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2C0C-92A3-18C2-BCDE-1BC98D15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29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i="1" dirty="0">
                <a:solidFill>
                  <a:srgbClr val="FFC000"/>
                </a:solidFill>
              </a:rPr>
              <a:t>Thank u!!!</a:t>
            </a:r>
          </a:p>
        </p:txBody>
      </p:sp>
    </p:spTree>
    <p:extLst>
      <p:ext uri="{BB962C8B-B14F-4D97-AF65-F5344CB8AC3E}">
        <p14:creationId xmlns:p14="http://schemas.microsoft.com/office/powerpoint/2010/main" val="839468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ገጽ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ገጽ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28893</TotalTime>
  <Words>7098</Words>
  <Application>Microsoft Office PowerPoint</Application>
  <PresentationFormat>Widescreen</PresentationFormat>
  <Paragraphs>878</Paragraphs>
  <Slides>71</Slides>
  <Notes>38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2" baseType="lpstr">
      <vt:lpstr>Office ገጽታ</vt:lpstr>
      <vt:lpstr>Internet Programming (CoSc3211)</vt:lpstr>
      <vt:lpstr>Content</vt:lpstr>
      <vt:lpstr>Introduction to JavaScript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Introduction to JavaScript (cont...)</vt:lpstr>
      <vt:lpstr>JavaScript Variables (cont...)</vt:lpstr>
      <vt:lpstr>Introduction to JavaScript (cont...)</vt:lpstr>
      <vt:lpstr>Introduction to JavaScript (cont...)</vt:lpstr>
      <vt:lpstr>JavaScript Data Types</vt:lpstr>
      <vt:lpstr>JavaScript Data Types (cont...)</vt:lpstr>
      <vt:lpstr>JavaScript Data Types (cont...)</vt:lpstr>
      <vt:lpstr>JavaScript Data Types (cont...)</vt:lpstr>
      <vt:lpstr>JavaScript Data Types (cont...)</vt:lpstr>
      <vt:lpstr>JavaScript Data Types (cont...)</vt:lpstr>
      <vt:lpstr>JavaScript Operators &amp; Control Statements</vt:lpstr>
      <vt:lpstr>JavaScript Arithmetic Operators</vt:lpstr>
      <vt:lpstr>JavaScript if..., else if..., else Statement (cont...)</vt:lpstr>
      <vt:lpstr>JavaScript if-else Statement (cont...)</vt:lpstr>
      <vt:lpstr>JavaScript if..., else if..., else Statement (cont...)</vt:lpstr>
      <vt:lpstr>JavaScript for Loop (cont...)</vt:lpstr>
      <vt:lpstr>JavaScript for Loop (cont...)</vt:lpstr>
      <vt:lpstr>Cont.…</vt:lpstr>
      <vt:lpstr>Using Arrays</vt:lpstr>
      <vt:lpstr>Using Arrays (cont...)</vt:lpstr>
      <vt:lpstr>Array declaration and assignment within one line</vt:lpstr>
      <vt:lpstr>Functions</vt:lpstr>
      <vt:lpstr>Functions (Cont.)</vt:lpstr>
      <vt:lpstr>Placing a Function in an HTML File</vt:lpstr>
      <vt:lpstr>Function con…</vt:lpstr>
      <vt:lpstr>Function con…</vt:lpstr>
      <vt:lpstr>Pop up Boxes</vt:lpstr>
      <vt:lpstr>Alert Box</vt:lpstr>
      <vt:lpstr>Confirm Box</vt:lpstr>
      <vt:lpstr>Prompt Box</vt:lpstr>
      <vt:lpstr>Prompt con..</vt:lpstr>
      <vt:lpstr>External JavaScript</vt:lpstr>
      <vt:lpstr>External JavaScript (Example)</vt:lpstr>
      <vt:lpstr>JavaScript Objects</vt:lpstr>
      <vt:lpstr>JavaScript Objects (Cont.)</vt:lpstr>
      <vt:lpstr>User Defined Objects</vt:lpstr>
      <vt:lpstr>User - Defined Objects (Cont.)</vt:lpstr>
      <vt:lpstr>User - Defined Objects (Cont.)</vt:lpstr>
      <vt:lpstr>Document Object Model (DOM)</vt:lpstr>
      <vt:lpstr>DOM (Cont)</vt:lpstr>
      <vt:lpstr>Document Object Properties</vt:lpstr>
      <vt:lpstr>Document Object Methods</vt:lpstr>
      <vt:lpstr>getElementById()</vt:lpstr>
      <vt:lpstr>getElementsByName()</vt:lpstr>
      <vt:lpstr>Forms using DOM</vt:lpstr>
      <vt:lpstr>Data Validation</vt:lpstr>
      <vt:lpstr>HTML forms</vt:lpstr>
      <vt:lpstr>HTML forms (cont.)</vt:lpstr>
      <vt:lpstr> the simplest form element is a button analogous to a real-world button, a click can be used to trigger events </vt:lpstr>
      <vt:lpstr>Form validation </vt:lpstr>
      <vt:lpstr>password match</vt:lpstr>
      <vt:lpstr>Page Redirection</vt:lpstr>
      <vt:lpstr>Creating New Browser Window</vt:lpstr>
      <vt:lpstr>Creating New Browser Window (cont...)</vt:lpstr>
      <vt:lpstr>Thank 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አቀራረብ</dc:title>
  <dc:creator>Helawe Behailu</dc:creator>
  <cp:lastModifiedBy>tesfalemtm45@gmail.com</cp:lastModifiedBy>
  <cp:revision>453</cp:revision>
  <dcterms:created xsi:type="dcterms:W3CDTF">2018-11-05T13:48:14Z</dcterms:created>
  <dcterms:modified xsi:type="dcterms:W3CDTF">2024-09-25T08:36:55Z</dcterms:modified>
</cp:coreProperties>
</file>